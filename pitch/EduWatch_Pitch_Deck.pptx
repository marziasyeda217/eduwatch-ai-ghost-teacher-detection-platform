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HOOK (0:00–0:15): 'Pakistan is paying teachers who never teach — and I built the system that catches them in the act. It's called EduWatch, it's running live right now, and by the end of this pitch you'll watch a ghost teacher get flagged in real time.' [Stand still. Let it land.]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(0:15–0:50) Twenty-two point eight MILLION children are out of school. One in ten government teachers is absent on any given day. And audits in Sindh alone surfaced SIX THOUSAND ghost teachers — salaries drawn, classes never taught. [Point at each number.] This isn't an education gap. It's an ongoing heist.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(0:50–1:20) The government's answer was biometric machines. They lost. Power cuts kill them. Proxy thumbing games them. And parents see NOTHING until the annual audit. Here's the core insight: gate attendance is not classroom teaching. The machines measure the wrong thing entirely.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(1:20–1:50) EduWatch puts TWO locks on one door. Lock one: AI geo-attendance — the teacher proves presence with GPS and a liveness selfie. Lock two: the community audits it. And when the two disagree — that's when the accountability engine fires. No single point of trust. That's the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(1:50–2:30) Watch the check-in flow. Select the school. GPS is checked against a ten-meter geofence — real Haversine math, not a lookup. The liveness challenge runs. And the proof selfie gets a security geotag and timestamp burned INTO the image. And here's the detail judges love: perceptual hashing. Submit the same blackboard photo on two different days — instant fraud flag. [Gesture: that's on the next slides.]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(2:30–3:00) Now the differentiator — the thing no government app has. Parents become the sensor network. One tap in Urdu: present, or ghair hazir. Their notes feed the AI directly. And critically — the AI guards BOTH sides: coordinated false reporting gets flagged too, so this isn't a mob tool against teachers. It's evidence, both ways.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(3:00–3:45) The AI engine — four systems, all real. One: a live LLM. A parent types 'ustaad bike par aa kar sirf 10 minute ruk kar chale jate hain' — out comes a formal statutory petition citing PEEDA Act 2006, in courtroom Urdu AND English. Two: legal RAG — the citations come from a real bilingual statute corpus retrieved into the prompt. Three: an ML anomaly model — Saturday-ghosts and touch-and-go departures cluster out of the data. Four: perceptual-hash fraud vision — reused proof photos get flagged instantly. And for the DEO: an executive briefing digest generated in Urdu and English. All of this is running LIVE — not mockups.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(3:45–4:10) Here's the loop you'll watch live. The app says PRESENT. A parent says EMPTY. The flag engine fires — instantly, on the public dashboard. The AI briefs the District Education Officer with a statutory digest. And the resolution lands on the public ledger. Check-in to accountability in under three minutes. That's the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(4:10–4:25) The stack is deliberately boring — and that's its strength. Plain HTML and JavaScript. Supabase with an offline-first fallback, so the demo cannot die on stage. The AI runs in-browser plus one live inference call. No installs, no keys to babysit. Every hour went into the demo, not the toolchain.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(4:25–4:40) What changes? Transparency becomes the default — not something you file a request for. Ghost payroll surfaces in days instead of audit cycles. Parents gain standing instead of petitions. And at the end of every one of these pipelines — a child who actually gets taught.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(4:40–4:47 — say fast, one breath) Roadmap: face verification next, SMS for feature phones, then Urdu VOICE complaints — because a mother who cannot write still deserves to file a complaint. And at scale, this runs on Qwen, on Alibaba Model Studio, across every district in Pakistan.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 (4:47–5:00): 'Biometric machines verify a thumb. EduWatch verifies the truth. The demo is live — ask me anything.' [Stop. Eye contact. Silence is confidence.]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138160" y="-2103120"/>
            <a:ext cx="6583680" cy="6583680"/>
          </a:xfrm>
          <a:prstGeom prst="ellipse">
            <a:avLst/>
          </a:prstGeom>
          <a:solidFill>
            <a:srgbClr val="072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95360" y="-1645920"/>
            <a:ext cx="5669280" cy="5669280"/>
          </a:xfrm>
          <a:prstGeom prst="ellipse">
            <a:avLst/>
          </a:prstGeom>
          <a:noFill/>
          <a:ln w="19050">
            <a:solidFill>
              <a:srgbClr val="1E6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235440" y="-1005840"/>
            <a:ext cx="4389120" cy="4389120"/>
          </a:xfrm>
          <a:prstGeom prst="ellipse">
            <a:avLst/>
          </a:prstGeom>
          <a:noFill/>
          <a:ln w="127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85800"/>
            <a:ext cx="105156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1100" b="1" i="0">
                <a:solidFill>
                  <a:srgbClr val="F5C542"/>
                </a:solidFill>
                <a:latin typeface="Segoe UI" panose="020B0502040204020203"/>
              </a:rPr>
              <a:t>★  ISLAMIC REPUBLIC OF PAKISTAN  •  FEDERAL EDUCATION INITIATIVE  •  HACKATHON 2026</a:t>
            </a:r>
            <a:endParaRPr sz="1100" b="1" i="0">
              <a:solidFill>
                <a:srgbClr val="F5C542"/>
              </a:solidFill>
              <a:latin typeface="Segoe UI" panose="020B0502040204020203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1554480"/>
            <a:ext cx="10515600" cy="1463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6600" b="1" i="0">
                <a:solidFill>
                  <a:srgbClr val="F7FBF8"/>
                </a:solidFill>
                <a:latin typeface="Segoe UI Black" panose="020B0A02040204020203"/>
              </a:rPr>
              <a:t>EduWatch</a:t>
            </a:r>
            <a:endParaRPr sz="6600" b="1" i="0">
              <a:solidFill>
                <a:srgbClr val="F7FBF8"/>
              </a:solidFill>
              <a:latin typeface="Segoe UI Black" panose="020B0A02040204020203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2743200"/>
            <a:ext cx="10515600" cy="6400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2000" b="1" i="0">
                <a:solidFill>
                  <a:srgbClr val="F5C542"/>
                </a:solidFill>
                <a:latin typeface="Segoe UI" panose="020B0502040204020203"/>
              </a:rPr>
              <a:t>تعلیم شفافیت  —  Transparency in Education</a:t>
            </a:r>
            <a:endParaRPr sz="2000" b="1" i="0">
              <a:solidFill>
                <a:srgbClr val="F5C542"/>
              </a:solidFill>
              <a:latin typeface="Segoe UI" panose="020B0502040204020203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367528" y="3520440"/>
            <a:ext cx="1463040" cy="3657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3794760"/>
            <a:ext cx="9418320" cy="9144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700" b="1" i="0">
                <a:solidFill>
                  <a:srgbClr val="F7FBF8"/>
                </a:solidFill>
                <a:latin typeface="Segoe UI" panose="020B0502040204020203"/>
              </a:rPr>
              <a:t>AI-Verified Teacher Attendance.  Citizen-Audited Accountability.</a:t>
            </a:r>
            <a:endParaRPr sz="1700" b="1" i="0">
              <a:solidFill>
                <a:srgbClr val="F7FBF8"/>
              </a:solidFill>
              <a:latin typeface="Segoe UI" panose="020B0502040204020203"/>
            </a:endParaRPr>
          </a:p>
          <a:p>
            <a:pPr algn="ctr"/>
            <a:r>
              <a:rPr sz="1500" b="1" i="1">
                <a:solidFill>
                  <a:srgbClr val="37D68A"/>
                </a:solidFill>
                <a:latin typeface="Segoe UI" panose="020B0502040204020203"/>
              </a:rPr>
              <a:t>Ghost teachers end here.</a:t>
            </a:r>
            <a:endParaRPr sz="1500" b="1" i="1">
              <a:solidFill>
                <a:srgbClr val="37D68A"/>
              </a:solidFill>
              <a:latin typeface="Segoe UI" panose="020B0502040204020203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194560" y="5120640"/>
            <a:ext cx="7799831" cy="475488"/>
          </a:xfrm>
          <a:prstGeom prst="roundRect">
            <a:avLst>
              <a:gd name="adj" fmla="val 50000"/>
            </a:avLst>
          </a:prstGeom>
          <a:solidFill>
            <a:srgbClr val="072B1F"/>
          </a:solidFill>
          <a:ln w="12700">
            <a:solidFill>
              <a:srgbClr val="1E6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79" y="5120640"/>
            <a:ext cx="7251192" cy="47548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150" b="1" i="0">
                <a:solidFill>
                  <a:srgbClr val="F5C542"/>
                </a:solidFill>
                <a:latin typeface="Segoe UI" panose="020B0502040204020203"/>
              </a:rPr>
              <a:t>Live LLM  •  Legal RAG  •  ML Anomaly Detection  •  pHash Fraud Vision  —  all running live in this demo</a:t>
            </a:r>
            <a:endParaRPr sz="1150" b="1" i="0">
              <a:solidFill>
                <a:srgbClr val="F5C542"/>
              </a:solidFill>
              <a:latin typeface="Segoe UI" panose="020B0502040204020203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22960" y="5989320"/>
            <a:ext cx="10515600" cy="20955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1200" b="1" i="0">
                <a:solidFill>
                  <a:srgbClr val="9DBFAF"/>
                </a:solidFill>
                <a:latin typeface="Segoe UI" panose="020B0502040204020203"/>
              </a:rPr>
              <a:t>Built by Marzia Syeda</a:t>
            </a:r>
            <a:r>
              <a:rPr lang="en-US" sz="1200" b="1" i="0">
                <a:solidFill>
                  <a:srgbClr val="9DBFAF"/>
                </a:solidFill>
                <a:latin typeface="Segoe UI" panose="020B0502040204020203"/>
              </a:rPr>
              <a:t>, Rabia Arain, Isha Aslam</a:t>
            </a:r>
            <a:endParaRPr lang="en-US" sz="1200" b="1" i="0">
              <a:solidFill>
                <a:srgbClr val="9DBFAF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5C542"/>
                </a:solidFill>
                <a:latin typeface="Segoe UI" panose="020B0502040204020203"/>
              </a:rPr>
              <a:t>THE PROBLEM</a:t>
            </a:r>
            <a:endParaRPr sz="1100" b="1" i="0">
              <a:solidFill>
                <a:srgbClr val="F5C542"/>
              </a:solidFill>
              <a:latin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F7FBF8"/>
                </a:solidFill>
                <a:latin typeface="Segoe UI Black" panose="020B0A02040204020203"/>
              </a:rPr>
              <a:t>Pakistan Is Paying Teachers Who Never Teach.</a:t>
            </a:r>
            <a:endParaRPr sz="3100" b="1" i="0">
              <a:solidFill>
                <a:srgbClr val="F7FBF8"/>
              </a:solidFill>
              <a:latin typeface="Segoe UI Black" panose="020B0A02040204020203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554480" cy="41148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3566160" cy="2331720"/>
          </a:xfrm>
          <a:prstGeom prst="roundRect">
            <a:avLst>
              <a:gd name="adj" fmla="val 8000"/>
            </a:avLst>
          </a:prstGeom>
          <a:solidFill>
            <a:srgbClr val="0B3326"/>
          </a:solidFill>
          <a:ln w="12700">
            <a:solidFill>
              <a:srgbClr val="1E6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011680"/>
            <a:ext cx="3291840" cy="1965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 i="0">
                <a:solidFill>
                  <a:srgbClr val="FF6B6B"/>
                </a:solidFill>
                <a:latin typeface="Segoe UI Black" panose="020B0A02040204020203"/>
              </a:rPr>
              <a:t>22.8M</a:t>
            </a:r>
            <a:endParaRPr sz="4000" b="1" i="0">
              <a:solidFill>
                <a:srgbClr val="FF6B6B"/>
              </a:solidFill>
              <a:latin typeface="Segoe UI Black" panose="020B0A02040204020203"/>
            </a:endParaRPr>
          </a:p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F7FBF8"/>
                </a:solidFill>
                <a:latin typeface="Segoe UI" panose="020B0502040204020203"/>
              </a:rPr>
              <a:t>children out of school</a:t>
            </a:r>
            <a:endParaRPr sz="1200" b="1" i="0">
              <a:solidFill>
                <a:srgbClr val="F7FBF8"/>
              </a:solidFill>
              <a:latin typeface="Segoe UI" panose="020B0502040204020203"/>
            </a:endParaRPr>
          </a:p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9DBFAF"/>
                </a:solidFill>
                <a:latin typeface="Segoe UI" panose="020B0502040204020203"/>
              </a:rPr>
              <a:t>while payroll leaks fund empty classrooms</a:t>
            </a:r>
            <a:endParaRPr sz="1000" b="0" i="0">
              <a:solidFill>
                <a:srgbClr val="9DBFAF"/>
              </a:solidFill>
              <a:latin typeface="Segoe UI" panose="020B0502040204020203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315968" y="1828800"/>
            <a:ext cx="3566160" cy="2331720"/>
          </a:xfrm>
          <a:prstGeom prst="roundRect">
            <a:avLst>
              <a:gd name="adj" fmla="val 8000"/>
            </a:avLst>
          </a:prstGeom>
          <a:solidFill>
            <a:srgbClr val="0B3326"/>
          </a:solidFill>
          <a:ln w="12700">
            <a:solidFill>
              <a:srgbClr val="1E6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53128" y="2011680"/>
            <a:ext cx="3291840" cy="1965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 i="0">
                <a:solidFill>
                  <a:srgbClr val="FF6B6B"/>
                </a:solidFill>
                <a:latin typeface="Segoe UI Black" panose="020B0A02040204020203"/>
              </a:rPr>
              <a:t>1 in 10</a:t>
            </a:r>
            <a:endParaRPr sz="4000" b="1" i="0">
              <a:solidFill>
                <a:srgbClr val="FF6B6B"/>
              </a:solidFill>
              <a:latin typeface="Segoe UI Black" panose="020B0A02040204020203"/>
            </a:endParaRPr>
          </a:p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F7FBF8"/>
                </a:solidFill>
                <a:latin typeface="Segoe UI" panose="020B0502040204020203"/>
              </a:rPr>
              <a:t>govt teachers absent on any given day</a:t>
            </a:r>
            <a:endParaRPr sz="1200" b="1" i="0">
              <a:solidFill>
                <a:srgbClr val="F7FBF8"/>
              </a:solidFill>
              <a:latin typeface="Segoe UI" panose="020B0502040204020203"/>
            </a:endParaRPr>
          </a:p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9DBFAF"/>
                </a:solidFill>
                <a:latin typeface="Segoe UI" panose="020B0502040204020203"/>
              </a:rPr>
              <a:t>World Bank / ASER field estimates</a:t>
            </a:r>
            <a:endParaRPr sz="1000" b="0" i="0">
              <a:solidFill>
                <a:srgbClr val="9DBFAF"/>
              </a:solidFill>
              <a:latin typeface="Segoe UI" panose="020B0502040204020203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074152" y="1828800"/>
            <a:ext cx="3566160" cy="2331720"/>
          </a:xfrm>
          <a:prstGeom prst="roundRect">
            <a:avLst>
              <a:gd name="adj" fmla="val 8000"/>
            </a:avLst>
          </a:prstGeom>
          <a:solidFill>
            <a:srgbClr val="0B3326"/>
          </a:solidFill>
          <a:ln w="12700">
            <a:solidFill>
              <a:srgbClr val="1E6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2" y="2011680"/>
            <a:ext cx="3291840" cy="1965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 i="0">
                <a:solidFill>
                  <a:srgbClr val="FF6B6B"/>
                </a:solidFill>
                <a:latin typeface="Segoe UI Black" panose="020B0A02040204020203"/>
              </a:rPr>
              <a:t>6,000+</a:t>
            </a:r>
            <a:endParaRPr sz="4000" b="1" i="0">
              <a:solidFill>
                <a:srgbClr val="FF6B6B"/>
              </a:solidFill>
              <a:latin typeface="Segoe UI Black" panose="020B0A02040204020203"/>
            </a:endParaRPr>
          </a:p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F7FBF8"/>
                </a:solidFill>
                <a:latin typeface="Segoe UI" panose="020B0502040204020203"/>
              </a:rPr>
              <a:t>ghost teachers found in Sindh's own audits</a:t>
            </a:r>
            <a:endParaRPr sz="1200" b="1" i="0">
              <a:solidFill>
                <a:srgbClr val="F7FBF8"/>
              </a:solidFill>
              <a:latin typeface="Segoe UI" panose="020B0502040204020203"/>
            </a:endParaRPr>
          </a:p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9DBFAF"/>
                </a:solidFill>
                <a:latin typeface="Segoe UI" panose="020B0502040204020203"/>
              </a:rPr>
              <a:t>pay drawn, classes never held</a:t>
            </a:r>
            <a:endParaRPr sz="1000" b="0" i="0">
              <a:solidFill>
                <a:srgbClr val="9DBFAF"/>
              </a:solidFill>
              <a:latin typeface="Segoe UI" panose="020B0502040204020203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48640" y="4572000"/>
            <a:ext cx="11091672" cy="475488"/>
          </a:xfrm>
          <a:prstGeom prst="roundRect">
            <a:avLst>
              <a:gd name="adj" fmla="val 50000"/>
            </a:avLst>
          </a:prstGeom>
          <a:solidFill>
            <a:srgbClr val="072B1F"/>
          </a:solidFill>
          <a:ln w="12700">
            <a:solidFill>
              <a:srgbClr val="1E6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4572000"/>
            <a:ext cx="10543032" cy="47548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150" b="1" i="0">
                <a:solidFill>
                  <a:srgbClr val="FF6B6B"/>
                </a:solidFill>
                <a:latin typeface="Segoe UI" panose="020B0502040204020203"/>
              </a:rPr>
              <a:t>Every ghost teacher is a classroom stolen from a child — and financed by the taxpayer.</a:t>
            </a:r>
            <a:endParaRPr sz="1150" b="1" i="0">
              <a:solidFill>
                <a:srgbClr val="FF6B6B"/>
              </a:solidFill>
              <a:latin typeface="Segoe UI" panose="020B0502040204020203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48640" y="6419088"/>
            <a:ext cx="11091672" cy="10972"/>
          </a:xfrm>
          <a:prstGeom prst="rect">
            <a:avLst/>
          </a:prstGeom>
          <a:solidFill>
            <a:srgbClr val="1E6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900" b="0" i="0">
                <a:solidFill>
                  <a:srgbClr val="9DBFAF"/>
                </a:solidFill>
                <a:latin typeface="Segoe UI" panose="020B0502040204020203"/>
              </a:rPr>
              <a:t>EduWatch  •  تعلیم شفافیت</a:t>
            </a:r>
            <a:endParaRPr sz="900" b="0" i="0">
              <a:solidFill>
                <a:srgbClr val="9DBFAF"/>
              </a:solidFill>
              <a:latin typeface="Segoe UI" panose="020B0502040204020203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058400" y="6473952"/>
            <a:ext cx="16002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900" b="1" i="0">
                <a:solidFill>
                  <a:srgbClr val="C9A227"/>
                </a:solidFill>
                <a:latin typeface="Segoe UI" panose="020B0502040204020203"/>
              </a:rPr>
              <a:t>02</a:t>
            </a:r>
            <a:endParaRPr sz="900" b="1" i="0">
              <a:solidFill>
                <a:srgbClr val="C9A227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5C542"/>
                </a:solidFill>
                <a:latin typeface="Segoe UI" panose="020B0502040204020203"/>
              </a:rPr>
              <a:t>WHY EXISTING SYSTEMS FAIL</a:t>
            </a:r>
            <a:endParaRPr sz="1100" b="1" i="0">
              <a:solidFill>
                <a:srgbClr val="F5C542"/>
              </a:solidFill>
              <a:latin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F7FBF8"/>
                </a:solidFill>
                <a:latin typeface="Segoe UI Black" panose="020B0A02040204020203"/>
              </a:rPr>
              <a:t>Biometric Machines Lost This Battle Years Ago.</a:t>
            </a:r>
            <a:endParaRPr sz="3100" b="1" i="0">
              <a:solidFill>
                <a:srgbClr val="F7FBF8"/>
              </a:solidFill>
              <a:latin typeface="Segoe UI Black" panose="020B0A02040204020203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554480" cy="41148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3566160" cy="2651760"/>
          </a:xfrm>
          <a:prstGeom prst="roundRect">
            <a:avLst>
              <a:gd name="adj" fmla="val 8000"/>
            </a:avLst>
          </a:prstGeom>
          <a:solidFill>
            <a:srgbClr val="0B3326"/>
          </a:solidFill>
          <a:ln w="12700">
            <a:solidFill>
              <a:srgbClr val="1E6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93392"/>
            <a:ext cx="3108960" cy="232257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FF6B6B"/>
                </a:solidFill>
                <a:latin typeface="Segoe UI" panose="020B0502040204020203"/>
              </a:rPr>
              <a:t>✕  FAILURE 01</a:t>
            </a:r>
            <a:endParaRPr sz="1100" b="1" i="0">
              <a:solidFill>
                <a:srgbClr val="FF6B6B"/>
              </a:solidFill>
              <a:latin typeface="Segoe UI" panose="020B0502040204020203"/>
            </a:endParaRP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50" b="1" i="0">
                <a:solidFill>
                  <a:srgbClr val="F7FBF8"/>
                </a:solidFill>
                <a:latin typeface="Segoe UI Black" panose="020B0A02040204020203"/>
              </a:rPr>
              <a:t>Power cuts kill it</a:t>
            </a:r>
            <a:endParaRPr sz="1550" b="1" i="0">
              <a:solidFill>
                <a:srgbClr val="F7FBF8"/>
              </a:solidFill>
              <a:latin typeface="Segoe UI Black" panose="020B0A02040204020203"/>
            </a:endParaRPr>
          </a:p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9DBFAF"/>
                </a:solidFill>
                <a:latin typeface="Segoe UI" panose="020B0502040204020203"/>
              </a:rPr>
              <a:t>Machines go dark with the grid. Attendance silently pauses — and nobody knows which day is real.</a:t>
            </a:r>
            <a:endParaRPr sz="1100" b="0" i="0">
              <a:solidFill>
                <a:srgbClr val="9DBFAF"/>
              </a:solidFill>
              <a:latin typeface="Segoe UI" panose="020B0502040204020203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315968" y="1828800"/>
            <a:ext cx="3566160" cy="2651760"/>
          </a:xfrm>
          <a:prstGeom prst="roundRect">
            <a:avLst>
              <a:gd name="adj" fmla="val 8000"/>
            </a:avLst>
          </a:prstGeom>
          <a:solidFill>
            <a:srgbClr val="0B3326"/>
          </a:solidFill>
          <a:ln w="12700">
            <a:solidFill>
              <a:srgbClr val="1E6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4568" y="1993392"/>
            <a:ext cx="3108960" cy="232257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FF6B6B"/>
                </a:solidFill>
                <a:latin typeface="Segoe UI" panose="020B0502040204020203"/>
              </a:rPr>
              <a:t>✕  FAILURE 02</a:t>
            </a:r>
            <a:endParaRPr sz="1100" b="1" i="0">
              <a:solidFill>
                <a:srgbClr val="FF6B6B"/>
              </a:solidFill>
              <a:latin typeface="Segoe UI" panose="020B0502040204020203"/>
            </a:endParaRP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50" b="1" i="0">
                <a:solidFill>
                  <a:srgbClr val="F7FBF8"/>
                </a:solidFill>
                <a:latin typeface="Segoe UI Black" panose="020B0A02040204020203"/>
              </a:rPr>
              <a:t>Proxy thumbing beats it</a:t>
            </a:r>
            <a:endParaRPr sz="1550" b="1" i="0">
              <a:solidFill>
                <a:srgbClr val="F7FBF8"/>
              </a:solidFill>
              <a:latin typeface="Segoe UI Black" panose="020B0A02040204020203"/>
            </a:endParaRPr>
          </a:p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9DBFAF"/>
                </a:solidFill>
                <a:latin typeface="Segoe UI" panose="020B0502040204020203"/>
              </a:rPr>
              <a:t>Any colleague's fingerprint marks the ghost 'present'. The machine verifies a thumb — not a teacher.</a:t>
            </a:r>
            <a:endParaRPr sz="1100" b="0" i="0">
              <a:solidFill>
                <a:srgbClr val="9DBFAF"/>
              </a:solidFill>
              <a:latin typeface="Segoe UI" panose="020B0502040204020203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074152" y="1828800"/>
            <a:ext cx="3566160" cy="2651760"/>
          </a:xfrm>
          <a:prstGeom prst="roundRect">
            <a:avLst>
              <a:gd name="adj" fmla="val 8000"/>
            </a:avLst>
          </a:prstGeom>
          <a:solidFill>
            <a:srgbClr val="0B3326"/>
          </a:solidFill>
          <a:ln w="12700">
            <a:solidFill>
              <a:srgbClr val="1E6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1993392"/>
            <a:ext cx="3108960" cy="232257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FF6B6B"/>
                </a:solidFill>
                <a:latin typeface="Segoe UI" panose="020B0502040204020203"/>
              </a:rPr>
              <a:t>✕  FAILURE 03</a:t>
            </a:r>
            <a:endParaRPr sz="1100" b="1" i="0">
              <a:solidFill>
                <a:srgbClr val="FF6B6B"/>
              </a:solidFill>
              <a:latin typeface="Segoe UI" panose="020B0502040204020203"/>
            </a:endParaRP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50" b="1" i="0">
                <a:solidFill>
                  <a:srgbClr val="F7FBF8"/>
                </a:solidFill>
                <a:latin typeface="Segoe UI Black" panose="020B0A02040204020203"/>
              </a:rPr>
              <a:t>Nobody is watching it</a:t>
            </a:r>
            <a:endParaRPr sz="1550" b="1" i="0">
              <a:solidFill>
                <a:srgbClr val="F7FBF8"/>
              </a:solidFill>
              <a:latin typeface="Segoe UI Black" panose="020B0A02040204020203"/>
            </a:endParaRPr>
          </a:p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9DBFAF"/>
                </a:solidFill>
                <a:latin typeface="Segoe UI" panose="020B0502040204020203"/>
              </a:rPr>
              <a:t>Parents and school committees see nothing until the annual audit — months after the damage.</a:t>
            </a:r>
            <a:endParaRPr sz="1100" b="0" i="0">
              <a:solidFill>
                <a:srgbClr val="9DBFAF"/>
              </a:solidFill>
              <a:latin typeface="Segoe UI" panose="020B0502040204020203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48640" y="4892040"/>
            <a:ext cx="11091672" cy="475488"/>
          </a:xfrm>
          <a:prstGeom prst="roundRect">
            <a:avLst>
              <a:gd name="adj" fmla="val 50000"/>
            </a:avLst>
          </a:prstGeom>
          <a:solidFill>
            <a:srgbClr val="072B1F"/>
          </a:solidFill>
          <a:ln w="12700">
            <a:solidFill>
              <a:srgbClr val="1E6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4892040"/>
            <a:ext cx="10543032" cy="47548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150" b="1" i="0">
                <a:solidFill>
                  <a:srgbClr val="FFB84A"/>
                </a:solidFill>
                <a:latin typeface="Segoe UI" panose="020B0502040204020203"/>
              </a:rPr>
              <a:t>Gate attendance ≠ classroom teaching.  The machines measure the wrong thing.</a:t>
            </a:r>
            <a:endParaRPr sz="1150" b="1" i="0">
              <a:solidFill>
                <a:srgbClr val="FFB84A"/>
              </a:solidFill>
              <a:latin typeface="Segoe UI" panose="020B0502040204020203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48640" y="6419088"/>
            <a:ext cx="11091672" cy="10972"/>
          </a:xfrm>
          <a:prstGeom prst="rect">
            <a:avLst/>
          </a:prstGeom>
          <a:solidFill>
            <a:srgbClr val="1E6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900" b="0" i="0">
                <a:solidFill>
                  <a:srgbClr val="9DBFAF"/>
                </a:solidFill>
                <a:latin typeface="Segoe UI" panose="020B0502040204020203"/>
              </a:rPr>
              <a:t>EduWatch  •  تعلیم شفافیت</a:t>
            </a:r>
            <a:endParaRPr sz="900" b="0" i="0">
              <a:solidFill>
                <a:srgbClr val="9DBFAF"/>
              </a:solidFill>
              <a:latin typeface="Segoe UI" panose="020B0502040204020203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058400" y="6473952"/>
            <a:ext cx="16002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900" b="1" i="0">
                <a:solidFill>
                  <a:srgbClr val="C9A227"/>
                </a:solidFill>
                <a:latin typeface="Segoe UI" panose="020B0502040204020203"/>
              </a:rPr>
              <a:t>03</a:t>
            </a:r>
            <a:endParaRPr sz="900" b="1" i="0">
              <a:solidFill>
                <a:srgbClr val="C9A227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5C542"/>
                </a:solidFill>
                <a:latin typeface="Segoe UI" panose="020B0502040204020203"/>
              </a:rPr>
              <a:t>THE SOLUTION</a:t>
            </a:r>
            <a:endParaRPr sz="1100" b="1" i="0">
              <a:solidFill>
                <a:srgbClr val="F5C542"/>
              </a:solidFill>
              <a:latin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F7FBF8"/>
                </a:solidFill>
                <a:latin typeface="Segoe UI Black" panose="020B0A02040204020203"/>
              </a:rPr>
              <a:t>EduWatch: Two Locks on One Door.</a:t>
            </a:r>
            <a:endParaRPr sz="3100" b="1" i="0">
              <a:solidFill>
                <a:srgbClr val="F7FBF8"/>
              </a:solidFill>
              <a:latin typeface="Segoe UI Black" panose="020B0A02040204020203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554480" cy="41148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3566160" cy="3017520"/>
          </a:xfrm>
          <a:prstGeom prst="roundRect">
            <a:avLst>
              <a:gd name="adj" fmla="val 8000"/>
            </a:avLst>
          </a:prstGeom>
          <a:solidFill>
            <a:srgbClr val="0B3326"/>
          </a:solidFill>
          <a:ln w="12700">
            <a:solidFill>
              <a:srgbClr val="1E6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93392"/>
            <a:ext cx="3108960" cy="268833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37D68A"/>
                </a:solidFill>
                <a:latin typeface="Segoe UI" panose="020B0502040204020203"/>
              </a:rPr>
              <a:t>✓  PILLAR 1 — VERIFY</a:t>
            </a:r>
            <a:endParaRPr sz="1100" b="1" i="0">
              <a:solidFill>
                <a:srgbClr val="37D68A"/>
              </a:solidFill>
              <a:latin typeface="Segoe UI" panose="020B0502040204020203"/>
            </a:endParaRP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50" b="1" i="0">
                <a:solidFill>
                  <a:srgbClr val="F7FBF8"/>
                </a:solidFill>
                <a:latin typeface="Segoe UI Black" panose="020B0A02040204020203"/>
              </a:rPr>
              <a:t>AI Geo-Attendance</a:t>
            </a:r>
            <a:endParaRPr sz="1550" b="1" i="0">
              <a:solidFill>
                <a:srgbClr val="F7FBF8"/>
              </a:solidFill>
              <a:latin typeface="Segoe UI Black" panose="020B0A02040204020203"/>
            </a:endParaRPr>
          </a:p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9DBFAF"/>
                </a:solidFill>
                <a:latin typeface="Segoe UI" panose="020B0502040204020203"/>
              </a:rPr>
              <a:t>GPS geofence plus a liveness selfie with time-and-location watermark burned in. Presence is proven — not claimed.</a:t>
            </a:r>
            <a:endParaRPr sz="1100" b="0" i="0">
              <a:solidFill>
                <a:srgbClr val="9DBFAF"/>
              </a:solidFill>
              <a:latin typeface="Segoe UI" panose="020B0502040204020203"/>
            </a:endParaRPr>
          </a:p>
          <a:p>
            <a:pPr algn="l">
              <a:spcBef>
                <a:spcPts val="700"/>
              </a:spcBef>
            </a:pPr>
            <a:r>
              <a:rPr sz="1000" b="1" i="0">
                <a:solidFill>
                  <a:srgbClr val="37D68A"/>
                </a:solidFill>
                <a:latin typeface="Segoe UI" panose="020B0502040204020203"/>
              </a:rPr>
              <a:t>10 m strict geofence  •  Haversine math</a:t>
            </a:r>
            <a:endParaRPr sz="1000" b="1" i="0">
              <a:solidFill>
                <a:srgbClr val="37D68A"/>
              </a:solidFill>
              <a:latin typeface="Segoe UI" panose="020B0502040204020203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315968" y="1828800"/>
            <a:ext cx="3566160" cy="3017520"/>
          </a:xfrm>
          <a:prstGeom prst="roundRect">
            <a:avLst>
              <a:gd name="adj" fmla="val 8000"/>
            </a:avLst>
          </a:prstGeom>
          <a:solidFill>
            <a:srgbClr val="0B3326"/>
          </a:solidFill>
          <a:ln w="12700">
            <a:solidFill>
              <a:srgbClr val="1E6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4568" y="1993392"/>
            <a:ext cx="3108960" cy="268833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37D68A"/>
                </a:solidFill>
                <a:latin typeface="Segoe UI" panose="020B0502040204020203"/>
              </a:rPr>
              <a:t>✓  PILLAR 2 — AUDIT</a:t>
            </a:r>
            <a:endParaRPr sz="1100" b="1" i="0">
              <a:solidFill>
                <a:srgbClr val="37D68A"/>
              </a:solidFill>
              <a:latin typeface="Segoe UI" panose="020B0502040204020203"/>
            </a:endParaRP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50" b="1" i="0">
                <a:solidFill>
                  <a:srgbClr val="F7FBF8"/>
                </a:solidFill>
                <a:latin typeface="Segoe UI Black" panose="020B0A02040204020203"/>
              </a:rPr>
              <a:t>Citizen Verification Layer</a:t>
            </a:r>
            <a:endParaRPr sz="1550" b="1" i="0">
              <a:solidFill>
                <a:srgbClr val="F7FBF8"/>
              </a:solidFill>
              <a:latin typeface="Segoe UI Black" panose="020B0A02040204020203"/>
            </a:endParaRPr>
          </a:p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9DBFAF"/>
                </a:solidFill>
                <a:latin typeface="Segoe UI" panose="020B0502040204020203"/>
              </a:rPr>
              <a:t>Parents and school committees confirm presence in Urdu — one tap. The community becomes the sensor network.</a:t>
            </a:r>
            <a:endParaRPr sz="1100" b="0" i="0">
              <a:solidFill>
                <a:srgbClr val="9DBFAF"/>
              </a:solidFill>
              <a:latin typeface="Segoe UI" panose="020B0502040204020203"/>
            </a:endParaRPr>
          </a:p>
          <a:p>
            <a:pPr algn="l">
              <a:spcBef>
                <a:spcPts val="700"/>
              </a:spcBef>
            </a:pPr>
            <a:r>
              <a:rPr sz="1000" b="1" i="0">
                <a:solidFill>
                  <a:srgbClr val="37D68A"/>
                </a:solidFill>
                <a:latin typeface="Segoe UI" panose="020B0502040204020203"/>
              </a:rPr>
              <a:t>Urdu-first  •  one-tap  •  no app install</a:t>
            </a:r>
            <a:endParaRPr sz="1000" b="1" i="0">
              <a:solidFill>
                <a:srgbClr val="37D68A"/>
              </a:solidFill>
              <a:latin typeface="Segoe UI" panose="020B0502040204020203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074152" y="1828800"/>
            <a:ext cx="3566160" cy="3017520"/>
          </a:xfrm>
          <a:prstGeom prst="roundRect">
            <a:avLst>
              <a:gd name="adj" fmla="val 8000"/>
            </a:avLst>
          </a:prstGeom>
          <a:solidFill>
            <a:srgbClr val="0B3326"/>
          </a:solidFill>
          <a:ln w="12700">
            <a:solidFill>
              <a:srgbClr val="1E6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1993392"/>
            <a:ext cx="3108960" cy="268833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37D68A"/>
                </a:solidFill>
                <a:latin typeface="Segoe UI" panose="020B0502040204020203"/>
              </a:rPr>
              <a:t>✓  PILLAR 3 — ENFORCE</a:t>
            </a:r>
            <a:endParaRPr sz="1100" b="1" i="0">
              <a:solidFill>
                <a:srgbClr val="37D68A"/>
              </a:solidFill>
              <a:latin typeface="Segoe UI" panose="020B0502040204020203"/>
            </a:endParaRP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50" b="1" i="0">
                <a:solidFill>
                  <a:srgbClr val="F7FBF8"/>
                </a:solidFill>
                <a:latin typeface="Segoe UI Black" panose="020B0A02040204020203"/>
              </a:rPr>
              <a:t>Accountability Engine</a:t>
            </a:r>
            <a:endParaRPr sz="1550" b="1" i="0">
              <a:solidFill>
                <a:srgbClr val="F7FBF8"/>
              </a:solidFill>
              <a:latin typeface="Segoe UI Black" panose="020B0A02040204020203"/>
            </a:endParaRPr>
          </a:p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9DBFAF"/>
                </a:solidFill>
                <a:latin typeface="Segoe UI" panose="020B0502040204020203"/>
              </a:rPr>
              <a:t>Mismatch flags, ML ghost-pattern detection, and PEEDA-cited statutory letters — auto-drafted, ready to file.</a:t>
            </a:r>
            <a:endParaRPr sz="1100" b="0" i="0">
              <a:solidFill>
                <a:srgbClr val="9DBFAF"/>
              </a:solidFill>
              <a:latin typeface="Segoe UI" panose="020B0502040204020203"/>
            </a:endParaRPr>
          </a:p>
          <a:p>
            <a:pPr algn="l">
              <a:spcBef>
                <a:spcPts val="700"/>
              </a:spcBef>
            </a:pPr>
            <a:r>
              <a:rPr sz="1000" b="1" i="0">
                <a:solidFill>
                  <a:srgbClr val="37D68A"/>
                </a:solidFill>
                <a:latin typeface="Segoe UI" panose="020B0502040204020203"/>
              </a:rPr>
              <a:t>Flags → AI brief → public ledger</a:t>
            </a:r>
            <a:endParaRPr sz="1000" b="1" i="0">
              <a:solidFill>
                <a:srgbClr val="37D68A"/>
              </a:solidFill>
              <a:latin typeface="Segoe UI" panose="020B0502040204020203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48640" y="5257800"/>
            <a:ext cx="11091672" cy="475488"/>
          </a:xfrm>
          <a:prstGeom prst="roundRect">
            <a:avLst>
              <a:gd name="adj" fmla="val 50000"/>
            </a:avLst>
          </a:prstGeom>
          <a:solidFill>
            <a:srgbClr val="072B1F"/>
          </a:solidFill>
          <a:ln w="12700">
            <a:solidFill>
              <a:srgbClr val="1E6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5257800"/>
            <a:ext cx="10543032" cy="47548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150" b="1" i="0">
                <a:solidFill>
                  <a:srgbClr val="F5C542"/>
                </a:solidFill>
                <a:latin typeface="Segoe UI" panose="020B0502040204020203"/>
              </a:rPr>
              <a:t>No single point of trust: the teacher's device AND the community must both tell the truth.</a:t>
            </a:r>
            <a:endParaRPr sz="1150" b="1" i="0">
              <a:solidFill>
                <a:srgbClr val="F5C542"/>
              </a:solidFill>
              <a:latin typeface="Segoe UI" panose="020B0502040204020203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48640" y="6419088"/>
            <a:ext cx="11091672" cy="10972"/>
          </a:xfrm>
          <a:prstGeom prst="rect">
            <a:avLst/>
          </a:prstGeom>
          <a:solidFill>
            <a:srgbClr val="1E6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900" b="0" i="0">
                <a:solidFill>
                  <a:srgbClr val="9DBFAF"/>
                </a:solidFill>
                <a:latin typeface="Segoe UI" panose="020B0502040204020203"/>
              </a:rPr>
              <a:t>EduWatch  •  تعلیم شفافیت</a:t>
            </a:r>
            <a:endParaRPr sz="900" b="0" i="0">
              <a:solidFill>
                <a:srgbClr val="9DBFAF"/>
              </a:solidFill>
              <a:latin typeface="Segoe UI" panose="020B0502040204020203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058400" y="6473952"/>
            <a:ext cx="16002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900" b="1" i="0">
                <a:solidFill>
                  <a:srgbClr val="C9A227"/>
                </a:solidFill>
                <a:latin typeface="Segoe UI" panose="020B0502040204020203"/>
              </a:rPr>
              <a:t>04</a:t>
            </a:r>
            <a:endParaRPr sz="900" b="1" i="0">
              <a:solidFill>
                <a:srgbClr val="C9A227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5C542"/>
                </a:solidFill>
                <a:latin typeface="Segoe UI" panose="020B0502040204020203"/>
              </a:rPr>
              <a:t>FEATURE DEEP-DIVE — TEACHER CHECK-IN</a:t>
            </a:r>
            <a:endParaRPr sz="1100" b="1" i="0">
              <a:solidFill>
                <a:srgbClr val="F5C542"/>
              </a:solidFill>
              <a:latin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F7FBF8"/>
                </a:solidFill>
                <a:latin typeface="Segoe UI Black" panose="020B0A02040204020203"/>
              </a:rPr>
              <a:t>A Check-In That Cannot Be Faked.</a:t>
            </a:r>
            <a:endParaRPr sz="3100" b="1" i="0">
              <a:solidFill>
                <a:srgbClr val="F7FBF8"/>
              </a:solidFill>
              <a:latin typeface="Segoe UI Black" panose="020B0A02040204020203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554480" cy="41148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2121408" cy="2834640"/>
          </a:xfrm>
          <a:prstGeom prst="roundRect">
            <a:avLst>
              <a:gd name="adj" fmla="val 8000"/>
            </a:avLst>
          </a:prstGeom>
          <a:solidFill>
            <a:srgbClr val="0B3326"/>
          </a:solidFill>
          <a:ln w="12700">
            <a:solidFill>
              <a:srgbClr val="1E6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49808" y="2011680"/>
            <a:ext cx="457200" cy="457200"/>
          </a:xfrm>
          <a:prstGeom prst="ellipse">
            <a:avLst/>
          </a:prstGeom>
          <a:solidFill>
            <a:srgbClr val="0E3D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011680"/>
            <a:ext cx="45720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400" b="1" i="0">
                <a:solidFill>
                  <a:srgbClr val="F5C542"/>
                </a:solidFill>
                <a:latin typeface="Segoe UI Black" panose="020B0A02040204020203"/>
              </a:rPr>
              <a:t>01</a:t>
            </a:r>
            <a:endParaRPr sz="1400" b="1" i="0">
              <a:solidFill>
                <a:srgbClr val="F5C542"/>
              </a:solidFill>
              <a:latin typeface="Segoe UI Black" panose="020B0A02040204020203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9808" y="2606040"/>
            <a:ext cx="1719072" cy="19202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1" i="0">
                <a:solidFill>
                  <a:srgbClr val="F7FBF8"/>
                </a:solidFill>
                <a:latin typeface="Segoe UI" panose="020B0502040204020203"/>
              </a:rPr>
              <a:t>Select</a:t>
            </a:r>
            <a:endParaRPr sz="1250" b="1" i="0">
              <a:solidFill>
                <a:srgbClr val="F7FBF8"/>
              </a:solidFill>
              <a:latin typeface="Segoe UI" panose="020B0502040204020203"/>
            </a:endParaRPr>
          </a:p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9DBFAF"/>
                </a:solidFill>
                <a:latin typeface="Segoe UI" panose="020B0502040204020203"/>
              </a:rPr>
              <a:t>School and teacher from the live roster.</a:t>
            </a:r>
            <a:endParaRPr sz="1000" b="0" i="0">
              <a:solidFill>
                <a:srgbClr val="9DBFAF"/>
              </a:solidFill>
              <a:latin typeface="Segoe UI" panose="020B0502040204020203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761488" y="1828800"/>
            <a:ext cx="2121408" cy="2834640"/>
          </a:xfrm>
          <a:prstGeom prst="roundRect">
            <a:avLst>
              <a:gd name="adj" fmla="val 8000"/>
            </a:avLst>
          </a:prstGeom>
          <a:solidFill>
            <a:srgbClr val="0B3326"/>
          </a:solidFill>
          <a:ln w="12700">
            <a:solidFill>
              <a:srgbClr val="1E6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962656" y="2011680"/>
            <a:ext cx="457200" cy="457200"/>
          </a:xfrm>
          <a:prstGeom prst="ellipse">
            <a:avLst/>
          </a:prstGeom>
          <a:solidFill>
            <a:srgbClr val="0E3D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62656" y="2011680"/>
            <a:ext cx="45720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400" b="1" i="0">
                <a:solidFill>
                  <a:srgbClr val="F5C542"/>
                </a:solidFill>
                <a:latin typeface="Segoe UI Black" panose="020B0A02040204020203"/>
              </a:rPr>
              <a:t>02</a:t>
            </a:r>
            <a:endParaRPr sz="1400" b="1" i="0">
              <a:solidFill>
                <a:srgbClr val="F5C542"/>
              </a:solidFill>
              <a:latin typeface="Segoe UI Black" panose="020B0A02040204020203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962656" y="2606040"/>
            <a:ext cx="1719072" cy="19202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1" i="0">
                <a:solidFill>
                  <a:srgbClr val="F7FBF8"/>
                </a:solidFill>
                <a:latin typeface="Segoe UI" panose="020B0502040204020203"/>
              </a:rPr>
              <a:t>Geofence</a:t>
            </a:r>
            <a:endParaRPr sz="1250" b="1" i="0">
              <a:solidFill>
                <a:srgbClr val="F7FBF8"/>
              </a:solidFill>
              <a:latin typeface="Segoe UI" panose="020B0502040204020203"/>
            </a:endParaRPr>
          </a:p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9DBFAF"/>
                </a:solidFill>
                <a:latin typeface="Segoe UI" panose="020B0502040204020203"/>
              </a:rPr>
              <a:t>GPS checked against a strict 10 m campus boundary.</a:t>
            </a:r>
            <a:endParaRPr sz="1000" b="0" i="0">
              <a:solidFill>
                <a:srgbClr val="9DBFAF"/>
              </a:solidFill>
              <a:latin typeface="Segoe UI" panose="020B0502040204020203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974336" y="1828800"/>
            <a:ext cx="2121408" cy="2834640"/>
          </a:xfrm>
          <a:prstGeom prst="roundRect">
            <a:avLst>
              <a:gd name="adj" fmla="val 8000"/>
            </a:avLst>
          </a:prstGeom>
          <a:solidFill>
            <a:srgbClr val="0B3326"/>
          </a:solidFill>
          <a:ln w="12700">
            <a:solidFill>
              <a:srgbClr val="1E6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175504" y="2011680"/>
            <a:ext cx="457200" cy="457200"/>
          </a:xfrm>
          <a:prstGeom prst="ellipse">
            <a:avLst/>
          </a:prstGeom>
          <a:solidFill>
            <a:srgbClr val="0E3D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75504" y="2011680"/>
            <a:ext cx="45720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400" b="1" i="0">
                <a:solidFill>
                  <a:srgbClr val="F5C542"/>
                </a:solidFill>
                <a:latin typeface="Segoe UI Black" panose="020B0A02040204020203"/>
              </a:rPr>
              <a:t>03</a:t>
            </a:r>
            <a:endParaRPr sz="1400" b="1" i="0">
              <a:solidFill>
                <a:srgbClr val="F5C542"/>
              </a:solidFill>
              <a:latin typeface="Segoe UI Black" panose="020B0A02040204020203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175504" y="2606040"/>
            <a:ext cx="1719072" cy="19202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1" i="0">
                <a:solidFill>
                  <a:srgbClr val="F7FBF8"/>
                </a:solidFill>
                <a:latin typeface="Segoe UI" panose="020B0502040204020203"/>
              </a:rPr>
              <a:t>Liveness</a:t>
            </a:r>
            <a:endParaRPr sz="1250" b="1" i="0">
              <a:solidFill>
                <a:srgbClr val="F7FBF8"/>
              </a:solidFill>
              <a:latin typeface="Segoe UI" panose="020B0502040204020203"/>
            </a:endParaRPr>
          </a:p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9DBFAF"/>
                </a:solidFill>
                <a:latin typeface="Segoe UI" panose="020B0502040204020203"/>
              </a:rPr>
              <a:t>Webcam challenge — a photo of a photo fails.</a:t>
            </a:r>
            <a:endParaRPr sz="1000" b="0" i="0">
              <a:solidFill>
                <a:srgbClr val="9DBFAF"/>
              </a:solidFill>
              <a:latin typeface="Segoe UI" panose="020B0502040204020203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187184" y="1828800"/>
            <a:ext cx="2121408" cy="2834640"/>
          </a:xfrm>
          <a:prstGeom prst="roundRect">
            <a:avLst>
              <a:gd name="adj" fmla="val 8000"/>
            </a:avLst>
          </a:prstGeom>
          <a:solidFill>
            <a:srgbClr val="0B3326"/>
          </a:solidFill>
          <a:ln w="12700">
            <a:solidFill>
              <a:srgbClr val="1E6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388352" y="2011680"/>
            <a:ext cx="457200" cy="457200"/>
          </a:xfrm>
          <a:prstGeom prst="ellipse">
            <a:avLst/>
          </a:prstGeom>
          <a:solidFill>
            <a:srgbClr val="0E3D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88352" y="2011680"/>
            <a:ext cx="45720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400" b="1" i="0">
                <a:solidFill>
                  <a:srgbClr val="F5C542"/>
                </a:solidFill>
                <a:latin typeface="Segoe UI Black" panose="020B0A02040204020203"/>
              </a:rPr>
              <a:t>04</a:t>
            </a:r>
            <a:endParaRPr sz="1400" b="1" i="0">
              <a:solidFill>
                <a:srgbClr val="F5C542"/>
              </a:solidFill>
              <a:latin typeface="Segoe UI Black" panose="020B0A02040204020203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388352" y="2606040"/>
            <a:ext cx="1719072" cy="19202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1" i="0">
                <a:solidFill>
                  <a:srgbClr val="F7FBF8"/>
                </a:solidFill>
                <a:latin typeface="Segoe UI" panose="020B0502040204020203"/>
              </a:rPr>
              <a:t>Watermark</a:t>
            </a:r>
            <a:endParaRPr sz="1250" b="1" i="0">
              <a:solidFill>
                <a:srgbClr val="F7FBF8"/>
              </a:solidFill>
              <a:latin typeface="Segoe UI" panose="020B0502040204020203"/>
            </a:endParaRPr>
          </a:p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9DBFAF"/>
                </a:solidFill>
                <a:latin typeface="Segoe UI" panose="020B0502040204020203"/>
              </a:rPr>
              <a:t>Security geotag + timestamp burned into the proof selfie.</a:t>
            </a:r>
            <a:endParaRPr sz="1000" b="0" i="0">
              <a:solidFill>
                <a:srgbClr val="9DBFAF"/>
              </a:solidFill>
              <a:latin typeface="Segoe UI" panose="020B0502040204020203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9400032" y="1828800"/>
            <a:ext cx="2121408" cy="2834640"/>
          </a:xfrm>
          <a:prstGeom prst="roundRect">
            <a:avLst>
              <a:gd name="adj" fmla="val 8000"/>
            </a:avLst>
          </a:prstGeom>
          <a:solidFill>
            <a:srgbClr val="0B3326"/>
          </a:solidFill>
          <a:ln w="12700">
            <a:solidFill>
              <a:srgbClr val="1E6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01200" y="2011680"/>
            <a:ext cx="457200" cy="457200"/>
          </a:xfrm>
          <a:prstGeom prst="ellipse">
            <a:avLst/>
          </a:prstGeom>
          <a:solidFill>
            <a:srgbClr val="0E3D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0" y="2011680"/>
            <a:ext cx="45720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400" b="1" i="0">
                <a:solidFill>
                  <a:srgbClr val="F5C542"/>
                </a:solidFill>
                <a:latin typeface="Segoe UI Black" panose="020B0A02040204020203"/>
              </a:rPr>
              <a:t>05</a:t>
            </a:r>
            <a:endParaRPr sz="1400" b="1" i="0">
              <a:solidFill>
                <a:srgbClr val="F5C542"/>
              </a:solidFill>
              <a:latin typeface="Segoe UI Black" panose="020B0A02040204020203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601200" y="2606040"/>
            <a:ext cx="1719072" cy="19202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1" i="0">
                <a:solidFill>
                  <a:srgbClr val="F7FBF8"/>
                </a:solidFill>
                <a:latin typeface="Segoe UI" panose="020B0502040204020203"/>
              </a:rPr>
              <a:t>Ledger</a:t>
            </a:r>
            <a:endParaRPr sz="1250" b="1" i="0">
              <a:solidFill>
                <a:srgbClr val="F7FBF8"/>
              </a:solidFill>
              <a:latin typeface="Segoe UI" panose="020B0502040204020203"/>
            </a:endParaRPr>
          </a:p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9DBFAF"/>
                </a:solidFill>
                <a:latin typeface="Segoe UI" panose="020B0502040204020203"/>
              </a:rPr>
              <a:t>Check-in written to the public attendance ledger.</a:t>
            </a:r>
            <a:endParaRPr sz="1000" b="0" i="0">
              <a:solidFill>
                <a:srgbClr val="9DBFAF"/>
              </a:solidFill>
              <a:latin typeface="Segoe UI" panose="020B0502040204020203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548640" y="5074920"/>
            <a:ext cx="11091672" cy="475488"/>
          </a:xfrm>
          <a:prstGeom prst="roundRect">
            <a:avLst>
              <a:gd name="adj" fmla="val 50000"/>
            </a:avLst>
          </a:prstGeom>
          <a:solidFill>
            <a:srgbClr val="072B1F"/>
          </a:solidFill>
          <a:ln w="12700">
            <a:solidFill>
              <a:srgbClr val="1E6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59" y="5074920"/>
            <a:ext cx="10543032" cy="47548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150" b="1" i="0">
                <a:solidFill>
                  <a:srgbClr val="37D68A"/>
                </a:solidFill>
                <a:latin typeface="Segoe UI" panose="020B0502040204020203"/>
              </a:rPr>
              <a:t>Offline-first  •  runs in any browser  •  pHash blocks reused proof photos</a:t>
            </a:r>
            <a:endParaRPr sz="1150" b="1" i="0">
              <a:solidFill>
                <a:srgbClr val="37D68A"/>
              </a:solidFill>
              <a:latin typeface="Segoe UI" panose="020B0502040204020203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48640" y="6419088"/>
            <a:ext cx="11091672" cy="10972"/>
          </a:xfrm>
          <a:prstGeom prst="rect">
            <a:avLst/>
          </a:prstGeom>
          <a:solidFill>
            <a:srgbClr val="1E6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900" b="0" i="0">
                <a:solidFill>
                  <a:srgbClr val="9DBFAF"/>
                </a:solidFill>
                <a:latin typeface="Segoe UI" panose="020B0502040204020203"/>
              </a:rPr>
              <a:t>EduWatch  •  تعلیم شفافیت</a:t>
            </a:r>
            <a:endParaRPr sz="900" b="0" i="0">
              <a:solidFill>
                <a:srgbClr val="9DBFAF"/>
              </a:solidFill>
              <a:latin typeface="Segoe UI" panose="020B0502040204020203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0058400" y="6473952"/>
            <a:ext cx="16002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900" b="1" i="0">
                <a:solidFill>
                  <a:srgbClr val="C9A227"/>
                </a:solidFill>
                <a:latin typeface="Segoe UI" panose="020B0502040204020203"/>
              </a:rPr>
              <a:t>05</a:t>
            </a:r>
            <a:endParaRPr sz="900" b="1" i="0">
              <a:solidFill>
                <a:srgbClr val="C9A227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5C542"/>
                </a:solidFill>
                <a:latin typeface="Segoe UI" panose="020B0502040204020203"/>
              </a:rPr>
              <a:t>FEATURE DEEP-DIVE — COMMUNITY AUDIT</a:t>
            </a:r>
            <a:endParaRPr sz="1100" b="1" i="0">
              <a:solidFill>
                <a:srgbClr val="F5C542"/>
              </a:solidFill>
              <a:latin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F7FBF8"/>
                </a:solidFill>
                <a:latin typeface="Segoe UI Black" panose="020B0A02040204020203"/>
              </a:rPr>
              <a:t>Parents Become the Sensor Network.</a:t>
            </a:r>
            <a:endParaRPr sz="3100" b="1" i="0">
              <a:solidFill>
                <a:srgbClr val="F7FBF8"/>
              </a:solidFill>
              <a:latin typeface="Segoe UI Black" panose="020B0A02040204020203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554480" cy="41148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440680" cy="2084831"/>
          </a:xfrm>
          <a:prstGeom prst="roundRect">
            <a:avLst>
              <a:gd name="adj" fmla="val 8000"/>
            </a:avLst>
          </a:prstGeom>
          <a:solidFill>
            <a:srgbClr val="0B3326"/>
          </a:solidFill>
          <a:ln w="12700">
            <a:solidFill>
              <a:srgbClr val="1E6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93392"/>
            <a:ext cx="4983480" cy="175564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37D68A"/>
                </a:solidFill>
                <a:latin typeface="Segoe UI" panose="020B0502040204020203"/>
              </a:rPr>
              <a:t>ONE TAP, IN URDU</a:t>
            </a:r>
            <a:endParaRPr sz="1100" b="1" i="0">
              <a:solidFill>
                <a:srgbClr val="37D68A"/>
              </a:solidFill>
              <a:latin typeface="Segoe UI" panose="020B0502040204020203"/>
            </a:endParaRP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50" b="1" i="0">
                <a:solidFill>
                  <a:srgbClr val="F7FBF8"/>
                </a:solidFill>
                <a:latin typeface="Segoe UI Black" panose="020B0A02040204020203"/>
              </a:rPr>
              <a:t>Present — or غیر حاضر</a:t>
            </a:r>
            <a:endParaRPr sz="1550" b="1" i="0">
              <a:solidFill>
                <a:srgbClr val="F7FBF8"/>
              </a:solidFill>
              <a:latin typeface="Segoe UI Black" panose="020B0A02040204020203"/>
            </a:endParaRPr>
          </a:p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9DBFAF"/>
                </a:solidFill>
                <a:latin typeface="Segoe UI" panose="020B0502040204020203"/>
              </a:rPr>
              <a:t>No app install. No literacy barrier. A parent answers the only question that matters: was the classroom taught today?</a:t>
            </a:r>
            <a:endParaRPr sz="1100" b="0" i="0">
              <a:solidFill>
                <a:srgbClr val="9DBFAF"/>
              </a:solidFill>
              <a:latin typeface="Segoe UI" panose="020B0502040204020203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199632" y="1828800"/>
            <a:ext cx="5440680" cy="2084831"/>
          </a:xfrm>
          <a:prstGeom prst="roundRect">
            <a:avLst>
              <a:gd name="adj" fmla="val 8000"/>
            </a:avLst>
          </a:prstGeom>
          <a:solidFill>
            <a:srgbClr val="0B3326"/>
          </a:solidFill>
          <a:ln w="12700">
            <a:solidFill>
              <a:srgbClr val="1E6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8232" y="1993392"/>
            <a:ext cx="4983480" cy="175564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37D68A"/>
                </a:solidFill>
                <a:latin typeface="Segoe UI" panose="020B0502040204020203"/>
              </a:rPr>
              <a:t>NOTES FEED THE AI</a:t>
            </a:r>
            <a:endParaRPr sz="1100" b="1" i="0">
              <a:solidFill>
                <a:srgbClr val="37D68A"/>
              </a:solidFill>
              <a:latin typeface="Segoe UI" panose="020B0502040204020203"/>
            </a:endParaRP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50" b="1" i="0">
                <a:solidFill>
                  <a:srgbClr val="F7FBF8"/>
                </a:solidFill>
                <a:latin typeface="Segoe UI Black" panose="020B0A02040204020203"/>
              </a:rPr>
              <a:t>A sentence becomes evidence</a:t>
            </a:r>
            <a:endParaRPr sz="1550" b="1" i="0">
              <a:solidFill>
                <a:srgbClr val="F7FBF8"/>
              </a:solidFill>
              <a:latin typeface="Segoe UI Black" panose="020B0A02040204020203"/>
            </a:endParaRPr>
          </a:p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9DBFAF"/>
                </a:solidFill>
                <a:latin typeface="Segoe UI" panose="020B0502040204020203"/>
              </a:rPr>
              <a:t>A parent's informal note becomes structured input the accountability engine can read, classify, and act on.</a:t>
            </a:r>
            <a:endParaRPr sz="1100" b="0" i="0">
              <a:solidFill>
                <a:srgbClr val="9DBFAF"/>
              </a:solidFill>
              <a:latin typeface="Segoe UI" panose="020B0502040204020203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48640" y="4041648"/>
            <a:ext cx="5440680" cy="2084831"/>
          </a:xfrm>
          <a:prstGeom prst="roundRect">
            <a:avLst>
              <a:gd name="adj" fmla="val 8000"/>
            </a:avLst>
          </a:prstGeom>
          <a:solidFill>
            <a:srgbClr val="0B3326"/>
          </a:solidFill>
          <a:ln w="12700">
            <a:solidFill>
              <a:srgbClr val="1E6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206240"/>
            <a:ext cx="4983480" cy="175564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37D68A"/>
                </a:solidFill>
                <a:latin typeface="Segoe UI" panose="020B0502040204020203"/>
              </a:rPr>
              <a:t>AI GUARDS BOTH SIDES</a:t>
            </a:r>
            <a:endParaRPr sz="1100" b="1" i="0">
              <a:solidFill>
                <a:srgbClr val="37D68A"/>
              </a:solidFill>
              <a:latin typeface="Segoe UI" panose="020B0502040204020203"/>
            </a:endParaRP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50" b="1" i="0">
                <a:solidFill>
                  <a:srgbClr val="F7FBF8"/>
                </a:solidFill>
                <a:latin typeface="Segoe UI Black" panose="020B0A02040204020203"/>
              </a:rPr>
              <a:t>Collusion detection</a:t>
            </a:r>
            <a:endParaRPr sz="1550" b="1" i="0">
              <a:solidFill>
                <a:srgbClr val="F7FBF8"/>
              </a:solidFill>
              <a:latin typeface="Segoe UI Black" panose="020B0A02040204020203"/>
            </a:endParaRPr>
          </a:p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9DBFAF"/>
                </a:solidFill>
                <a:latin typeface="Segoe UI" panose="020B0502040204020203"/>
              </a:rPr>
              <a:t>Coordinated near-identical 'absent' reports get flagged — honest teachers are protected from mob blame.</a:t>
            </a:r>
            <a:endParaRPr sz="1100" b="0" i="0">
              <a:solidFill>
                <a:srgbClr val="9DBFAF"/>
              </a:solidFill>
              <a:latin typeface="Segoe UI" panose="020B0502040204020203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99632" y="4041648"/>
            <a:ext cx="5440680" cy="2084831"/>
          </a:xfrm>
          <a:prstGeom prst="roundRect">
            <a:avLst>
              <a:gd name="adj" fmla="val 8000"/>
            </a:avLst>
          </a:prstGeom>
          <a:solidFill>
            <a:srgbClr val="0B3326"/>
          </a:solidFill>
          <a:ln w="12700">
            <a:solidFill>
              <a:srgbClr val="1E6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4206240"/>
            <a:ext cx="4983480" cy="175564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37D68A"/>
                </a:solidFill>
                <a:latin typeface="Segoe UI" panose="020B0502040204020203"/>
              </a:rPr>
              <a:t>ROMAN URDU ACCEPTED</a:t>
            </a:r>
            <a:endParaRPr sz="1100" b="1" i="0">
              <a:solidFill>
                <a:srgbClr val="37D68A"/>
              </a:solidFill>
              <a:latin typeface="Segoe UI" panose="020B0502040204020203"/>
            </a:endParaRP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50" b="1" i="0">
                <a:solidFill>
                  <a:srgbClr val="F7FBF8"/>
                </a:solidFill>
                <a:latin typeface="Segoe UI Black" panose="020B0A02040204020203"/>
              </a:rPr>
              <a:t>Understands real typing</a:t>
            </a:r>
            <a:endParaRPr sz="1550" b="1" i="0">
              <a:solidFill>
                <a:srgbClr val="F7FBF8"/>
              </a:solidFill>
              <a:latin typeface="Segoe UI Black" panose="020B0A02040204020203"/>
            </a:endParaRPr>
          </a:p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9DBFAF"/>
                </a:solidFill>
                <a:latin typeface="Segoe UI" panose="020B0502040204020203"/>
              </a:rPr>
              <a:t>The complaint box accepts Urdu, Roman Urdu, or mixed — exactly how people actually write.</a:t>
            </a:r>
            <a:endParaRPr sz="1100" b="0" i="0">
              <a:solidFill>
                <a:srgbClr val="9DBFAF"/>
              </a:solidFill>
              <a:latin typeface="Segoe UI" panose="020B0502040204020203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48640" y="6419088"/>
            <a:ext cx="11091672" cy="10972"/>
          </a:xfrm>
          <a:prstGeom prst="rect">
            <a:avLst/>
          </a:prstGeom>
          <a:solidFill>
            <a:srgbClr val="1E6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900" b="0" i="0">
                <a:solidFill>
                  <a:srgbClr val="9DBFAF"/>
                </a:solidFill>
                <a:latin typeface="Segoe UI" panose="020B0502040204020203"/>
              </a:rPr>
              <a:t>EduWatch  •  تعلیم شفافیت</a:t>
            </a:r>
            <a:endParaRPr sz="900" b="0" i="0">
              <a:solidFill>
                <a:srgbClr val="9DBFAF"/>
              </a:solidFill>
              <a:latin typeface="Segoe UI" panose="020B0502040204020203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058400" y="6473952"/>
            <a:ext cx="16002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900" b="1" i="0">
                <a:solidFill>
                  <a:srgbClr val="C9A227"/>
                </a:solidFill>
                <a:latin typeface="Segoe UI" panose="020B0502040204020203"/>
              </a:rPr>
              <a:t>06</a:t>
            </a:r>
            <a:endParaRPr sz="900" b="1" i="0">
              <a:solidFill>
                <a:srgbClr val="C9A227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5C542"/>
                </a:solidFill>
                <a:latin typeface="Segoe UI" panose="020B0502040204020203"/>
              </a:rPr>
              <a:t>THE AI ENGINE — VERIFIED LIVE</a:t>
            </a:r>
            <a:endParaRPr sz="1100" b="1" i="0">
              <a:solidFill>
                <a:srgbClr val="F5C542"/>
              </a:solidFill>
              <a:latin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F7FBF8"/>
                </a:solidFill>
                <a:latin typeface="Segoe UI Black" panose="020B0A02040204020203"/>
              </a:rPr>
              <a:t>Four AI Systems. One Mission.</a:t>
            </a:r>
            <a:endParaRPr sz="3100" b="1" i="0">
              <a:solidFill>
                <a:srgbClr val="F7FBF8"/>
              </a:solidFill>
              <a:latin typeface="Segoe UI Black" panose="020B0A02040204020203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554480" cy="41148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440680" cy="2084831"/>
          </a:xfrm>
          <a:prstGeom prst="roundRect">
            <a:avLst>
              <a:gd name="adj" fmla="val 8000"/>
            </a:avLst>
          </a:prstGeom>
          <a:solidFill>
            <a:srgbClr val="0B3326"/>
          </a:solidFill>
          <a:ln w="12700">
            <a:solidFill>
              <a:srgbClr val="1E6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93392"/>
            <a:ext cx="4983480" cy="175564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F5C542"/>
                </a:solidFill>
                <a:latin typeface="Segoe UI" panose="020B0502040204020203"/>
              </a:rPr>
              <a:t>LIVE LLM — QWEN 3.8-27B</a:t>
            </a:r>
            <a:endParaRPr sz="1100" b="1" i="0">
              <a:solidFill>
                <a:srgbClr val="F5C542"/>
              </a:solidFill>
              <a:latin typeface="Segoe UI" panose="020B0502040204020203"/>
            </a:endParaRP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50" b="1" i="0">
                <a:solidFill>
                  <a:srgbClr val="F7FBF8"/>
                </a:solidFill>
                <a:latin typeface="Segoe UI Black" panose="020B0A02040204020203"/>
              </a:rPr>
              <a:t>Statutory letters from raw complaints</a:t>
            </a:r>
            <a:endParaRPr sz="1550" b="1" i="0">
              <a:solidFill>
                <a:srgbClr val="F7FBF8"/>
              </a:solidFill>
              <a:latin typeface="Segoe UI Black" panose="020B0A02040204020203"/>
            </a:endParaRPr>
          </a:p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9DBFAF"/>
                </a:solidFill>
                <a:latin typeface="Segoe UI" panose="020B0502040204020203"/>
              </a:rPr>
              <a:t>A parent types 'ustaad bike par 10 minute ruk kar chale jate hain'. Out comes a formal petition citing PEEDA Act 2006 &amp; PPC 419/420 — in Urdu and English.</a:t>
            </a:r>
            <a:endParaRPr sz="1100" b="0" i="0">
              <a:solidFill>
                <a:srgbClr val="9DBFAF"/>
              </a:solidFill>
              <a:latin typeface="Segoe UI" panose="020B0502040204020203"/>
            </a:endParaRPr>
          </a:p>
          <a:p>
            <a:pPr algn="l">
              <a:spcBef>
                <a:spcPts val="700"/>
              </a:spcBef>
            </a:pPr>
            <a:r>
              <a:rPr sz="1000" b="1" i="0">
                <a:solidFill>
                  <a:srgbClr val="37D68A"/>
                </a:solidFill>
                <a:latin typeface="Segoe UI" panose="020B0502040204020203"/>
              </a:rPr>
              <a:t>Called live via Groq in this demo</a:t>
            </a:r>
            <a:endParaRPr sz="1000" b="1" i="0">
              <a:solidFill>
                <a:srgbClr val="37D68A"/>
              </a:solidFill>
              <a:latin typeface="Segoe UI" panose="020B0502040204020203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199632" y="1828800"/>
            <a:ext cx="5440680" cy="2084831"/>
          </a:xfrm>
          <a:prstGeom prst="roundRect">
            <a:avLst>
              <a:gd name="adj" fmla="val 8000"/>
            </a:avLst>
          </a:prstGeom>
          <a:solidFill>
            <a:srgbClr val="0B3326"/>
          </a:solidFill>
          <a:ln w="12700">
            <a:solidFill>
              <a:srgbClr val="1E6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8232" y="1993392"/>
            <a:ext cx="4983480" cy="175564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F5C542"/>
                </a:solidFill>
                <a:latin typeface="Segoe UI" panose="020B0502040204020203"/>
              </a:rPr>
              <a:t>LEGAL RAG</a:t>
            </a:r>
            <a:endParaRPr sz="1100" b="1" i="0">
              <a:solidFill>
                <a:srgbClr val="F5C542"/>
              </a:solidFill>
              <a:latin typeface="Segoe UI" panose="020B0502040204020203"/>
            </a:endParaRP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50" b="1" i="0">
                <a:solidFill>
                  <a:srgbClr val="F7FBF8"/>
                </a:solidFill>
                <a:latin typeface="Segoe UI Black" panose="020B0A02040204020203"/>
              </a:rPr>
              <a:t>Real statutes, not decoration</a:t>
            </a:r>
            <a:endParaRPr sz="1550" b="1" i="0">
              <a:solidFill>
                <a:srgbClr val="F7FBF8"/>
              </a:solidFill>
              <a:latin typeface="Segoe UI Black" panose="020B0A02040204020203"/>
            </a:endParaRPr>
          </a:p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9DBFAF"/>
                </a:solidFill>
                <a:latin typeface="Segoe UI" panose="020B0502040204020203"/>
              </a:rPr>
              <a:t>A bilingual corpus — PEEDA Act, Sindh Civil Servants Rules, PPC — retrieved into every prompt before generation. Citations you can actually verify.</a:t>
            </a:r>
            <a:endParaRPr sz="1100" b="0" i="0">
              <a:solidFill>
                <a:srgbClr val="9DBFAF"/>
              </a:solidFill>
              <a:latin typeface="Segoe UI" panose="020B0502040204020203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48640" y="4041648"/>
            <a:ext cx="5440680" cy="2084831"/>
          </a:xfrm>
          <a:prstGeom prst="roundRect">
            <a:avLst>
              <a:gd name="adj" fmla="val 8000"/>
            </a:avLst>
          </a:prstGeom>
          <a:solidFill>
            <a:srgbClr val="0B3326"/>
          </a:solidFill>
          <a:ln w="12700">
            <a:solidFill>
              <a:srgbClr val="1E6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206240"/>
            <a:ext cx="4983480" cy="175564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F5C542"/>
                </a:solidFill>
                <a:latin typeface="Segoe UI" panose="020B0502040204020203"/>
              </a:rPr>
              <a:t>ML ANOMALY MODEL</a:t>
            </a:r>
            <a:endParaRPr sz="1100" b="1" i="0">
              <a:solidFill>
                <a:srgbClr val="F5C542"/>
              </a:solidFill>
              <a:latin typeface="Segoe UI" panose="020B0502040204020203"/>
            </a:endParaRP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50" b="1" i="0">
                <a:solidFill>
                  <a:srgbClr val="F7FBF8"/>
                </a:solidFill>
                <a:latin typeface="Segoe UI Black" panose="020B0A02040204020203"/>
              </a:rPr>
              <a:t>Ghost patterns cluster out</a:t>
            </a:r>
            <a:endParaRPr sz="1550" b="1" i="0">
              <a:solidFill>
                <a:srgbClr val="F7FBF8"/>
              </a:solidFill>
              <a:latin typeface="Segoe UI Black" panose="020B0A02040204020203"/>
            </a:endParaRPr>
          </a:p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9DBFAF"/>
                </a:solidFill>
                <a:latin typeface="Segoe UI" panose="020B0502040204020203"/>
              </a:rPr>
              <a:t>Logistic scoring + k-means clustering over six behavior features: Saturday-only ghosts and touch-and-go departures surface instantly.</a:t>
            </a:r>
            <a:endParaRPr sz="1100" b="0" i="0">
              <a:solidFill>
                <a:srgbClr val="9DBFAF"/>
              </a:solidFill>
              <a:latin typeface="Segoe UI" panose="020B0502040204020203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99632" y="4041648"/>
            <a:ext cx="5440680" cy="2084831"/>
          </a:xfrm>
          <a:prstGeom prst="roundRect">
            <a:avLst>
              <a:gd name="adj" fmla="val 8000"/>
            </a:avLst>
          </a:prstGeom>
          <a:solidFill>
            <a:srgbClr val="0B3326"/>
          </a:solidFill>
          <a:ln w="12700">
            <a:solidFill>
              <a:srgbClr val="1E6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4206240"/>
            <a:ext cx="4983480" cy="175564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F5C542"/>
                </a:solidFill>
                <a:latin typeface="Segoe UI" panose="020B0502040204020203"/>
              </a:rPr>
              <a:t>FRAUD VISION — PHASH</a:t>
            </a:r>
            <a:endParaRPr sz="1100" b="1" i="0">
              <a:solidFill>
                <a:srgbClr val="F5C542"/>
              </a:solidFill>
              <a:latin typeface="Segoe UI" panose="020B0502040204020203"/>
            </a:endParaRP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50" b="1" i="0">
                <a:solidFill>
                  <a:srgbClr val="F7FBF8"/>
                </a:solidFill>
                <a:latin typeface="Segoe UI Black" panose="020B0A02040204020203"/>
              </a:rPr>
              <a:t>Photo reuse = fraud</a:t>
            </a:r>
            <a:endParaRPr sz="1550" b="1" i="0">
              <a:solidFill>
                <a:srgbClr val="F7FBF8"/>
              </a:solidFill>
              <a:latin typeface="Segoe UI Black" panose="020B0A02040204020203"/>
            </a:endParaRPr>
          </a:p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9DBFAF"/>
                </a:solidFill>
                <a:latin typeface="Segoe UI" panose="020B0502040204020203"/>
              </a:rPr>
              <a:t>The same classroom proof photo resubmitted on another day is caught by perceptual hashing and flagged FRAUD on the spot.</a:t>
            </a:r>
            <a:endParaRPr sz="1100" b="0" i="0">
              <a:solidFill>
                <a:srgbClr val="9DBFAF"/>
              </a:solidFill>
              <a:latin typeface="Segoe UI" panose="020B0502040204020203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48640" y="6263640"/>
            <a:ext cx="11091672" cy="475488"/>
          </a:xfrm>
          <a:prstGeom prst="roundRect">
            <a:avLst>
              <a:gd name="adj" fmla="val 50000"/>
            </a:avLst>
          </a:prstGeom>
          <a:solidFill>
            <a:srgbClr val="072B1F"/>
          </a:solidFill>
          <a:ln w="12700">
            <a:solidFill>
              <a:srgbClr val="1E6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6263640"/>
            <a:ext cx="10543032" cy="47548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150" b="1" i="0">
                <a:solidFill>
                  <a:srgbClr val="F5C542"/>
                </a:solidFill>
                <a:latin typeface="Segoe UI" panose="020B0502040204020203"/>
              </a:rPr>
              <a:t>Also live: DEO executive digests (Urdu + English)  •  coordinated-reporting detection</a:t>
            </a:r>
            <a:endParaRPr sz="1150" b="1" i="0">
              <a:solidFill>
                <a:srgbClr val="F5C542"/>
              </a:solidFill>
              <a:latin typeface="Segoe UI" panose="020B0502040204020203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48640" y="6419088"/>
            <a:ext cx="11091672" cy="10972"/>
          </a:xfrm>
          <a:prstGeom prst="rect">
            <a:avLst/>
          </a:prstGeom>
          <a:solidFill>
            <a:srgbClr val="1E6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900" b="0" i="0">
                <a:solidFill>
                  <a:srgbClr val="9DBFAF"/>
                </a:solidFill>
                <a:latin typeface="Segoe UI" panose="020B0502040204020203"/>
              </a:rPr>
              <a:t>EduWatch  •  تعلیم شفافیت</a:t>
            </a:r>
            <a:endParaRPr sz="900" b="0" i="0">
              <a:solidFill>
                <a:srgbClr val="9DBFAF"/>
              </a:solidFill>
              <a:latin typeface="Segoe UI" panose="020B0502040204020203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058400" y="6473952"/>
            <a:ext cx="16002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900" b="1" i="0">
                <a:solidFill>
                  <a:srgbClr val="C9A227"/>
                </a:solidFill>
                <a:latin typeface="Segoe UI" panose="020B0502040204020203"/>
              </a:rPr>
              <a:t>07</a:t>
            </a:r>
            <a:endParaRPr sz="900" b="1" i="0">
              <a:solidFill>
                <a:srgbClr val="C9A227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5C542"/>
                </a:solidFill>
                <a:latin typeface="Segoe UI" panose="020B0502040204020203"/>
              </a:rPr>
              <a:t>THE ACCOUNTABILITY LOOP — LIVE DEMO</a:t>
            </a:r>
            <a:endParaRPr sz="1100" b="1" i="0">
              <a:solidFill>
                <a:srgbClr val="F5C542"/>
              </a:solidFill>
              <a:latin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F7FBF8"/>
                </a:solidFill>
                <a:latin typeface="Segoe UI Black" panose="020B0A02040204020203"/>
              </a:rPr>
              <a:t>The Loop That Ends Ghost Teaching.</a:t>
            </a:r>
            <a:endParaRPr sz="3100" b="1" i="0">
              <a:solidFill>
                <a:srgbClr val="F7FBF8"/>
              </a:solidFill>
              <a:latin typeface="Segoe UI Black" panose="020B0A02040204020203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554480" cy="41148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2121408" cy="2834640"/>
          </a:xfrm>
          <a:prstGeom prst="roundRect">
            <a:avLst>
              <a:gd name="adj" fmla="val 8000"/>
            </a:avLst>
          </a:prstGeom>
          <a:solidFill>
            <a:srgbClr val="0B3326"/>
          </a:solidFill>
          <a:ln w="12700">
            <a:solidFill>
              <a:srgbClr val="1E6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49808" y="2103120"/>
            <a:ext cx="457200" cy="457200"/>
          </a:xfrm>
          <a:prstGeom prst="ellipse">
            <a:avLst/>
          </a:prstGeom>
          <a:solidFill>
            <a:srgbClr val="0E3D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103120"/>
            <a:ext cx="45720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400" b="1" i="0">
                <a:solidFill>
                  <a:srgbClr val="F5C542"/>
                </a:solidFill>
                <a:latin typeface="Segoe UI Black" panose="020B0A02040204020203"/>
              </a:rPr>
              <a:t>01</a:t>
            </a:r>
            <a:endParaRPr sz="1400" b="1" i="0">
              <a:solidFill>
                <a:srgbClr val="F5C542"/>
              </a:solidFill>
              <a:latin typeface="Segoe UI Black" panose="020B0A02040204020203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9808" y="2697480"/>
            <a:ext cx="1719072" cy="19202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1" i="0">
                <a:solidFill>
                  <a:srgbClr val="F7FBF8"/>
                </a:solidFill>
                <a:latin typeface="Segoe UI" panose="020B0502040204020203"/>
              </a:rPr>
              <a:t>App says PRESENT</a:t>
            </a:r>
            <a:endParaRPr sz="1250" b="1" i="0">
              <a:solidFill>
                <a:srgbClr val="F7FBF8"/>
              </a:solidFill>
              <a:latin typeface="Segoe UI" panose="020B0502040204020203"/>
            </a:endParaRPr>
          </a:p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9DBFAF"/>
                </a:solidFill>
                <a:latin typeface="Segoe UI" panose="020B0502040204020203"/>
              </a:rPr>
              <a:t>AI geo check-in logged to the ledger.</a:t>
            </a:r>
            <a:endParaRPr sz="1000" b="0" i="0">
              <a:solidFill>
                <a:srgbClr val="9DBFAF"/>
              </a:solidFill>
              <a:latin typeface="Segoe UI" panose="020B0502040204020203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761488" y="1920240"/>
            <a:ext cx="2121408" cy="2834640"/>
          </a:xfrm>
          <a:prstGeom prst="roundRect">
            <a:avLst>
              <a:gd name="adj" fmla="val 8000"/>
            </a:avLst>
          </a:prstGeom>
          <a:solidFill>
            <a:srgbClr val="0B3326"/>
          </a:solidFill>
          <a:ln w="12700">
            <a:solidFill>
              <a:srgbClr val="1E6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962656" y="2103120"/>
            <a:ext cx="457200" cy="457200"/>
          </a:xfrm>
          <a:prstGeom prst="ellipse">
            <a:avLst/>
          </a:prstGeom>
          <a:solidFill>
            <a:srgbClr val="0E3D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62656" y="2103120"/>
            <a:ext cx="45720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400" b="1" i="0">
                <a:solidFill>
                  <a:srgbClr val="F5C542"/>
                </a:solidFill>
                <a:latin typeface="Segoe UI Black" panose="020B0A02040204020203"/>
              </a:rPr>
              <a:t>02</a:t>
            </a:r>
            <a:endParaRPr sz="1400" b="1" i="0">
              <a:solidFill>
                <a:srgbClr val="F5C542"/>
              </a:solidFill>
              <a:latin typeface="Segoe UI Black" panose="020B0A02040204020203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962656" y="2697480"/>
            <a:ext cx="1719072" cy="19202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1" i="0">
                <a:solidFill>
                  <a:srgbClr val="F7FBF8"/>
                </a:solidFill>
                <a:latin typeface="Segoe UI" panose="020B0502040204020203"/>
              </a:rPr>
              <a:t>Parent says EMPTY</a:t>
            </a:r>
            <a:endParaRPr sz="1250" b="1" i="0">
              <a:solidFill>
                <a:srgbClr val="F7FBF8"/>
              </a:solidFill>
              <a:latin typeface="Segoe UI" panose="020B0502040204020203"/>
            </a:endParaRPr>
          </a:p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9DBFAF"/>
                </a:solidFill>
                <a:latin typeface="Segoe UI" panose="020B0502040204020203"/>
              </a:rPr>
              <a:t>Citizen audit contradicts the check-in.</a:t>
            </a:r>
            <a:endParaRPr sz="1000" b="0" i="0">
              <a:solidFill>
                <a:srgbClr val="9DBFAF"/>
              </a:solidFill>
              <a:latin typeface="Segoe UI" panose="020B0502040204020203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974336" y="1920240"/>
            <a:ext cx="2121408" cy="2834640"/>
          </a:xfrm>
          <a:prstGeom prst="roundRect">
            <a:avLst>
              <a:gd name="adj" fmla="val 8000"/>
            </a:avLst>
          </a:prstGeom>
          <a:solidFill>
            <a:srgbClr val="0B3326"/>
          </a:solidFill>
          <a:ln w="12700">
            <a:solidFill>
              <a:srgbClr val="1E6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175504" y="2103120"/>
            <a:ext cx="457200" cy="457200"/>
          </a:xfrm>
          <a:prstGeom prst="ellipse">
            <a:avLst/>
          </a:prstGeom>
          <a:solidFill>
            <a:srgbClr val="0E3D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75504" y="2103120"/>
            <a:ext cx="45720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400" b="1" i="0">
                <a:solidFill>
                  <a:srgbClr val="F5C542"/>
                </a:solidFill>
                <a:latin typeface="Segoe UI Black" panose="020B0A02040204020203"/>
              </a:rPr>
              <a:t>03</a:t>
            </a:r>
            <a:endParaRPr sz="1400" b="1" i="0">
              <a:solidFill>
                <a:srgbClr val="F5C542"/>
              </a:solidFill>
              <a:latin typeface="Segoe UI Black" panose="020B0A02040204020203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175504" y="2697480"/>
            <a:ext cx="1719072" cy="19202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1" i="0">
                <a:solidFill>
                  <a:srgbClr val="F7FBF8"/>
                </a:solidFill>
                <a:latin typeface="Segoe UI" panose="020B0502040204020203"/>
              </a:rPr>
              <a:t>Flag fires</a:t>
            </a:r>
            <a:endParaRPr sz="1250" b="1" i="0">
              <a:solidFill>
                <a:srgbClr val="F7FBF8"/>
              </a:solidFill>
              <a:latin typeface="Segoe UI" panose="020B0502040204020203"/>
            </a:endParaRPr>
          </a:p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9DBFAF"/>
                </a:solidFill>
                <a:latin typeface="Segoe UI" panose="020B0502040204020203"/>
              </a:rPr>
              <a:t>Discrepancy alert hits the public dashboard.</a:t>
            </a:r>
            <a:endParaRPr sz="1000" b="0" i="0">
              <a:solidFill>
                <a:srgbClr val="9DBFAF"/>
              </a:solidFill>
              <a:latin typeface="Segoe UI" panose="020B0502040204020203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187184" y="1920240"/>
            <a:ext cx="2121408" cy="2834640"/>
          </a:xfrm>
          <a:prstGeom prst="roundRect">
            <a:avLst>
              <a:gd name="adj" fmla="val 8000"/>
            </a:avLst>
          </a:prstGeom>
          <a:solidFill>
            <a:srgbClr val="0B3326"/>
          </a:solidFill>
          <a:ln w="12700">
            <a:solidFill>
              <a:srgbClr val="1E6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388352" y="2103120"/>
            <a:ext cx="457200" cy="457200"/>
          </a:xfrm>
          <a:prstGeom prst="ellipse">
            <a:avLst/>
          </a:prstGeom>
          <a:solidFill>
            <a:srgbClr val="0E3D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88352" y="2103120"/>
            <a:ext cx="45720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400" b="1" i="0">
                <a:solidFill>
                  <a:srgbClr val="F5C542"/>
                </a:solidFill>
                <a:latin typeface="Segoe UI Black" panose="020B0A02040204020203"/>
              </a:rPr>
              <a:t>04</a:t>
            </a:r>
            <a:endParaRPr sz="1400" b="1" i="0">
              <a:solidFill>
                <a:srgbClr val="F5C542"/>
              </a:solidFill>
              <a:latin typeface="Segoe UI Black" panose="020B0A02040204020203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388352" y="2697480"/>
            <a:ext cx="1719072" cy="19202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1" i="0">
                <a:solidFill>
                  <a:srgbClr val="F7FBF8"/>
                </a:solidFill>
                <a:latin typeface="Segoe UI" panose="020B0502040204020203"/>
              </a:rPr>
              <a:t>AI briefs the DEO</a:t>
            </a:r>
            <a:endParaRPr sz="1250" b="1" i="0">
              <a:solidFill>
                <a:srgbClr val="F7FBF8"/>
              </a:solidFill>
              <a:latin typeface="Segoe UI" panose="020B0502040204020203"/>
            </a:endParaRPr>
          </a:p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9DBFAF"/>
                </a:solidFill>
                <a:latin typeface="Segoe UI" panose="020B0502040204020203"/>
              </a:rPr>
              <a:t>Statutory digest — urgency-rated, bilingual.</a:t>
            </a:r>
            <a:endParaRPr sz="1000" b="0" i="0">
              <a:solidFill>
                <a:srgbClr val="9DBFAF"/>
              </a:solidFill>
              <a:latin typeface="Segoe UI" panose="020B0502040204020203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9400032" y="1920240"/>
            <a:ext cx="2121408" cy="2834640"/>
          </a:xfrm>
          <a:prstGeom prst="roundRect">
            <a:avLst>
              <a:gd name="adj" fmla="val 8000"/>
            </a:avLst>
          </a:prstGeom>
          <a:solidFill>
            <a:srgbClr val="0B3326"/>
          </a:solidFill>
          <a:ln w="12700">
            <a:solidFill>
              <a:srgbClr val="1E6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01200" y="2103120"/>
            <a:ext cx="457200" cy="457200"/>
          </a:xfrm>
          <a:prstGeom prst="ellipse">
            <a:avLst/>
          </a:prstGeom>
          <a:solidFill>
            <a:srgbClr val="0E3D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0" y="2103120"/>
            <a:ext cx="45720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400" b="1" i="0">
                <a:solidFill>
                  <a:srgbClr val="F5C542"/>
                </a:solidFill>
                <a:latin typeface="Segoe UI Black" panose="020B0A02040204020203"/>
              </a:rPr>
              <a:t>05</a:t>
            </a:r>
            <a:endParaRPr sz="1400" b="1" i="0">
              <a:solidFill>
                <a:srgbClr val="F5C542"/>
              </a:solidFill>
              <a:latin typeface="Segoe UI Black" panose="020B0A02040204020203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601200" y="2697480"/>
            <a:ext cx="1719072" cy="19202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1" i="0">
                <a:solidFill>
                  <a:srgbClr val="F7FBF8"/>
                </a:solidFill>
                <a:latin typeface="Segoe UI" panose="020B0502040204020203"/>
              </a:rPr>
              <a:t>Ledger closes</a:t>
            </a:r>
            <a:endParaRPr sz="1250" b="1" i="0">
              <a:solidFill>
                <a:srgbClr val="F7FBF8"/>
              </a:solidFill>
              <a:latin typeface="Segoe UI" panose="020B0502040204020203"/>
            </a:endParaRPr>
          </a:p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9DBFAF"/>
                </a:solidFill>
                <a:latin typeface="Segoe UI" panose="020B0502040204020203"/>
              </a:rPr>
              <a:t>Resolution recorded on the public record.</a:t>
            </a:r>
            <a:endParaRPr sz="1000" b="0" i="0">
              <a:solidFill>
                <a:srgbClr val="9DBFAF"/>
              </a:solidFill>
              <a:latin typeface="Segoe UI" panose="020B0502040204020203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548640" y="5166360"/>
            <a:ext cx="11091672" cy="475488"/>
          </a:xfrm>
          <a:prstGeom prst="roundRect">
            <a:avLst>
              <a:gd name="adj" fmla="val 50000"/>
            </a:avLst>
          </a:prstGeom>
          <a:solidFill>
            <a:srgbClr val="072B1F"/>
          </a:solidFill>
          <a:ln w="12700">
            <a:solidFill>
              <a:srgbClr val="1E6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59" y="5166360"/>
            <a:ext cx="10543032" cy="47548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150" b="1" i="0">
                <a:solidFill>
                  <a:srgbClr val="37D68A"/>
                </a:solidFill>
                <a:latin typeface="Segoe UI" panose="020B0502040204020203"/>
              </a:rPr>
              <a:t>This exact sequence runs live in the demo — in under three minutes.</a:t>
            </a:r>
            <a:endParaRPr sz="1150" b="1" i="0">
              <a:solidFill>
                <a:srgbClr val="37D68A"/>
              </a:solidFill>
              <a:latin typeface="Segoe UI" panose="020B0502040204020203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48640" y="6419088"/>
            <a:ext cx="11091672" cy="10972"/>
          </a:xfrm>
          <a:prstGeom prst="rect">
            <a:avLst/>
          </a:prstGeom>
          <a:solidFill>
            <a:srgbClr val="1E6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900" b="0" i="0">
                <a:solidFill>
                  <a:srgbClr val="9DBFAF"/>
                </a:solidFill>
                <a:latin typeface="Segoe UI" panose="020B0502040204020203"/>
              </a:rPr>
              <a:t>EduWatch  •  تعلیم شفافیت</a:t>
            </a:r>
            <a:endParaRPr sz="900" b="0" i="0">
              <a:solidFill>
                <a:srgbClr val="9DBFAF"/>
              </a:solidFill>
              <a:latin typeface="Segoe UI" panose="020B0502040204020203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0058400" y="6473952"/>
            <a:ext cx="16002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900" b="1" i="0">
                <a:solidFill>
                  <a:srgbClr val="C9A227"/>
                </a:solidFill>
                <a:latin typeface="Segoe UI" panose="020B0502040204020203"/>
              </a:rPr>
              <a:t>08</a:t>
            </a:r>
            <a:endParaRPr sz="900" b="1" i="0">
              <a:solidFill>
                <a:srgbClr val="C9A227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5C542"/>
                </a:solidFill>
                <a:latin typeface="Segoe UI" panose="020B0502040204020203"/>
              </a:rPr>
              <a:t>ARCHITECTURE</a:t>
            </a:r>
            <a:endParaRPr sz="1100" b="1" i="0">
              <a:solidFill>
                <a:srgbClr val="F5C542"/>
              </a:solidFill>
              <a:latin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F7FBF8"/>
                </a:solidFill>
                <a:latin typeface="Segoe UI Black" panose="020B0A02040204020203"/>
              </a:rPr>
              <a:t>Zero Install. Zero Build. Runs in a Browser.</a:t>
            </a:r>
            <a:endParaRPr sz="3100" b="1" i="0">
              <a:solidFill>
                <a:srgbClr val="F7FBF8"/>
              </a:solidFill>
              <a:latin typeface="Segoe UI Black" panose="020B0A02040204020203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554480" cy="41148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11091672" cy="841248"/>
          </a:xfrm>
          <a:prstGeom prst="roundRect">
            <a:avLst>
              <a:gd name="adj" fmla="val 8000"/>
            </a:avLst>
          </a:prstGeom>
          <a:solidFill>
            <a:srgbClr val="0B3326"/>
          </a:solidFill>
          <a:ln w="12700">
            <a:solidFill>
              <a:srgbClr val="1E6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64008" cy="841248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2103120" cy="8412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350" b="1" i="0">
                <a:solidFill>
                  <a:srgbClr val="F5C542"/>
                </a:solidFill>
                <a:latin typeface="Segoe UI Black" panose="020B0A02040204020203"/>
              </a:rPr>
              <a:t>FRONTEND</a:t>
            </a:r>
            <a:endParaRPr sz="1350" b="1" i="0">
              <a:solidFill>
                <a:srgbClr val="F5C542"/>
              </a:solidFill>
              <a:latin typeface="Segoe UI Black" panose="020B0A02040204020203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017520" y="1828800"/>
            <a:ext cx="8412480" cy="8412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F7FBF8"/>
                </a:solidFill>
                <a:latin typeface="Segoe UI" panose="020B0502040204020203"/>
              </a:rPr>
              <a:t>Plain HTML + JavaScript + Tailwind CDN</a:t>
            </a:r>
            <a:endParaRPr sz="1200" b="1" i="0">
              <a:solidFill>
                <a:srgbClr val="F7FBF8"/>
              </a:solidFill>
              <a:latin typeface="Segoe UI" panose="020B0502040204020203"/>
            </a:endParaRPr>
          </a:p>
          <a:p>
            <a:pPr algn="l"/>
            <a:r>
              <a:rPr sz="1050" b="0" i="0">
                <a:solidFill>
                  <a:srgbClr val="9DBFAF"/>
                </a:solidFill>
                <a:latin typeface="Segoe UI" panose="020B0502040204020203"/>
              </a:rPr>
              <a:t>Zero build pipeline — opens directly in any browser, on any device</a:t>
            </a:r>
            <a:endParaRPr sz="1050" b="0" i="0">
              <a:solidFill>
                <a:srgbClr val="9DBFAF"/>
              </a:solidFill>
              <a:latin typeface="Segoe UI" panose="020B0502040204020203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48640" y="2788920"/>
            <a:ext cx="11091672" cy="841248"/>
          </a:xfrm>
          <a:prstGeom prst="roundRect">
            <a:avLst>
              <a:gd name="adj" fmla="val 8000"/>
            </a:avLst>
          </a:prstGeom>
          <a:solidFill>
            <a:srgbClr val="0B3326"/>
          </a:solidFill>
          <a:ln w="12700">
            <a:solidFill>
              <a:srgbClr val="1E6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788920"/>
            <a:ext cx="64008" cy="841248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788920"/>
            <a:ext cx="2103120" cy="8412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350" b="1" i="0">
                <a:solidFill>
                  <a:srgbClr val="F5C542"/>
                </a:solidFill>
                <a:latin typeface="Segoe UI Black" panose="020B0A02040204020203"/>
              </a:rPr>
              <a:t>DATA</a:t>
            </a:r>
            <a:endParaRPr sz="1350" b="1" i="0">
              <a:solidFill>
                <a:srgbClr val="F5C542"/>
              </a:solidFill>
              <a:latin typeface="Segoe UI Black" panose="020B0A02040204020203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017520" y="2788920"/>
            <a:ext cx="8412480" cy="8412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F7FBF8"/>
                </a:solidFill>
                <a:latin typeface="Segoe UI" panose="020B0502040204020203"/>
              </a:rPr>
              <a:t>Supabase PostgreSQL  +  offline-first localStorage</a:t>
            </a:r>
            <a:endParaRPr sz="1200" b="1" i="0">
              <a:solidFill>
                <a:srgbClr val="F7FBF8"/>
              </a:solidFill>
              <a:latin typeface="Segoe UI" panose="020B0502040204020203"/>
            </a:endParaRPr>
          </a:p>
          <a:p>
            <a:pPr algn="l"/>
            <a:r>
              <a:rPr sz="1050" b="0" i="0">
                <a:solidFill>
                  <a:srgbClr val="9DBFAF"/>
                </a:solidFill>
                <a:latin typeface="Segoe UI" panose="020B0502040204020203"/>
              </a:rPr>
              <a:t>Live cloud sync with a full offline fallback — the demo cannot die on stage</a:t>
            </a:r>
            <a:endParaRPr sz="1050" b="0" i="0">
              <a:solidFill>
                <a:srgbClr val="9DBFAF"/>
              </a:solidFill>
              <a:latin typeface="Segoe UI" panose="020B0502040204020203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48640" y="3749039"/>
            <a:ext cx="11091672" cy="841248"/>
          </a:xfrm>
          <a:prstGeom prst="roundRect">
            <a:avLst>
              <a:gd name="adj" fmla="val 8000"/>
            </a:avLst>
          </a:prstGeom>
          <a:solidFill>
            <a:srgbClr val="0B3326"/>
          </a:solidFill>
          <a:ln w="12700">
            <a:solidFill>
              <a:srgbClr val="1E6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749039"/>
            <a:ext cx="64008" cy="841248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749039"/>
            <a:ext cx="2103120" cy="8412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350" b="1" i="0">
                <a:solidFill>
                  <a:srgbClr val="F5C542"/>
                </a:solidFill>
                <a:latin typeface="Segoe UI Black" panose="020B0A02040204020203"/>
              </a:rPr>
              <a:t>AI</a:t>
            </a:r>
            <a:endParaRPr sz="1350" b="1" i="0">
              <a:solidFill>
                <a:srgbClr val="F5C542"/>
              </a:solidFill>
              <a:latin typeface="Segoe UI Black" panose="020B0A02040204020203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017520" y="3749039"/>
            <a:ext cx="8412480" cy="8412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F7FBF8"/>
                </a:solidFill>
                <a:latin typeface="Segoe UI" panose="020B0502040204020203"/>
              </a:rPr>
              <a:t>In-browser retrieval  +  Qwen 3.8-27b inference via Groq</a:t>
            </a:r>
            <a:endParaRPr sz="1200" b="1" i="0">
              <a:solidFill>
                <a:srgbClr val="F7FBF8"/>
              </a:solidFill>
              <a:latin typeface="Segoe UI" panose="020B0502040204020203"/>
            </a:endParaRPr>
          </a:p>
          <a:p>
            <a:pPr algn="l"/>
            <a:r>
              <a:rPr sz="1050" b="0" i="0">
                <a:solidFill>
                  <a:srgbClr val="9DBFAF"/>
                </a:solidFill>
                <a:latin typeface="Segoe UI" panose="020B0502040204020203"/>
              </a:rPr>
              <a:t>Retrieval runs locally; generation is a live API call — sub-second responses</a:t>
            </a:r>
            <a:endParaRPr sz="1050" b="0" i="0">
              <a:solidFill>
                <a:srgbClr val="9DBFAF"/>
              </a:solidFill>
              <a:latin typeface="Segoe UI" panose="020B0502040204020203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48640" y="4709160"/>
            <a:ext cx="11091672" cy="841248"/>
          </a:xfrm>
          <a:prstGeom prst="roundRect">
            <a:avLst>
              <a:gd name="adj" fmla="val 8000"/>
            </a:avLst>
          </a:prstGeom>
          <a:solidFill>
            <a:srgbClr val="0B3326"/>
          </a:solidFill>
          <a:ln w="12700">
            <a:solidFill>
              <a:srgbClr val="1E6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709160"/>
            <a:ext cx="64008" cy="841248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709160"/>
            <a:ext cx="2103120" cy="8412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350" b="1" i="0">
                <a:solidFill>
                  <a:srgbClr val="F5C542"/>
                </a:solidFill>
                <a:latin typeface="Segoe UI Black" panose="020B0A02040204020203"/>
              </a:rPr>
              <a:t>GEO</a:t>
            </a:r>
            <a:endParaRPr sz="1350" b="1" i="0">
              <a:solidFill>
                <a:srgbClr val="F5C542"/>
              </a:solidFill>
              <a:latin typeface="Segoe UI Black" panose="020B0A02040204020203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017520" y="4709160"/>
            <a:ext cx="8412480" cy="8412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F7FBF8"/>
                </a:solidFill>
                <a:latin typeface="Segoe UI" panose="020B0502040204020203"/>
              </a:rPr>
              <a:t>Leaflet maps  +  live geofence rings</a:t>
            </a:r>
            <a:endParaRPr sz="1200" b="1" i="0">
              <a:solidFill>
                <a:srgbClr val="F7FBF8"/>
              </a:solidFill>
              <a:latin typeface="Segoe UI" panose="020B0502040204020203"/>
            </a:endParaRPr>
          </a:p>
          <a:p>
            <a:pPr algn="l"/>
            <a:r>
              <a:rPr sz="1050" b="0" i="0">
                <a:solidFill>
                  <a:srgbClr val="9DBFAF"/>
                </a:solidFill>
                <a:latin typeface="Segoe UI" panose="020B0502040204020203"/>
              </a:rPr>
              <a:t>Open data — no paid map keys, no vendor lock-in</a:t>
            </a:r>
            <a:endParaRPr sz="1050" b="0" i="0">
              <a:solidFill>
                <a:srgbClr val="9DBFAF"/>
              </a:solidFill>
              <a:latin typeface="Segoe UI" panose="020B0502040204020203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48640" y="5806440"/>
            <a:ext cx="11091672" cy="475488"/>
          </a:xfrm>
          <a:prstGeom prst="roundRect">
            <a:avLst>
              <a:gd name="adj" fmla="val 50000"/>
            </a:avLst>
          </a:prstGeom>
          <a:solidFill>
            <a:srgbClr val="072B1F"/>
          </a:solidFill>
          <a:ln w="12700">
            <a:solidFill>
              <a:srgbClr val="1E6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59" y="5806440"/>
            <a:ext cx="10543032" cy="47548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150" b="1" i="0">
                <a:solidFill>
                  <a:srgbClr val="F5C542"/>
                </a:solidFill>
                <a:latin typeface="Segoe UI" panose="020B0502040204020203"/>
              </a:rPr>
              <a:t>Build philosophy: every hour goes into the demo flow — not the toolchain.</a:t>
            </a:r>
            <a:endParaRPr sz="1150" b="1" i="0">
              <a:solidFill>
                <a:srgbClr val="F5C542"/>
              </a:solidFill>
              <a:latin typeface="Segoe UI" panose="020B0502040204020203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48640" y="6419088"/>
            <a:ext cx="11091672" cy="10972"/>
          </a:xfrm>
          <a:prstGeom prst="rect">
            <a:avLst/>
          </a:prstGeom>
          <a:solidFill>
            <a:srgbClr val="1E6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900" b="0" i="0">
                <a:solidFill>
                  <a:srgbClr val="9DBFAF"/>
                </a:solidFill>
                <a:latin typeface="Segoe UI" panose="020B0502040204020203"/>
              </a:rPr>
              <a:t>EduWatch  •  تعلیم شفافیت</a:t>
            </a:r>
            <a:endParaRPr sz="900" b="0" i="0">
              <a:solidFill>
                <a:srgbClr val="9DBFAF"/>
              </a:solidFill>
              <a:latin typeface="Segoe UI" panose="020B0502040204020203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058400" y="6473952"/>
            <a:ext cx="16002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900" b="1" i="0">
                <a:solidFill>
                  <a:srgbClr val="C9A227"/>
                </a:solidFill>
                <a:latin typeface="Segoe UI" panose="020B0502040204020203"/>
              </a:rPr>
              <a:t>09</a:t>
            </a:r>
            <a:endParaRPr sz="900" b="1" i="0">
              <a:solidFill>
                <a:srgbClr val="C9A227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5C542"/>
                </a:solidFill>
                <a:latin typeface="Segoe UI" panose="020B0502040204020203"/>
              </a:rPr>
              <a:t>IMPACT</a:t>
            </a:r>
            <a:endParaRPr sz="1100" b="1" i="0">
              <a:solidFill>
                <a:srgbClr val="F5C542"/>
              </a:solidFill>
              <a:latin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F7FBF8"/>
                </a:solidFill>
                <a:latin typeface="Segoe UI Black" panose="020B0A02040204020203"/>
              </a:rPr>
              <a:t>What Changes.</a:t>
            </a:r>
            <a:endParaRPr sz="3100" b="1" i="0">
              <a:solidFill>
                <a:srgbClr val="F7FBF8"/>
              </a:solidFill>
              <a:latin typeface="Segoe UI Black" panose="020B0A02040204020203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554480" cy="41148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440680" cy="2084831"/>
          </a:xfrm>
          <a:prstGeom prst="roundRect">
            <a:avLst>
              <a:gd name="adj" fmla="val 8000"/>
            </a:avLst>
          </a:prstGeom>
          <a:solidFill>
            <a:srgbClr val="0B3326"/>
          </a:solidFill>
          <a:ln w="12700">
            <a:solidFill>
              <a:srgbClr val="1E6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93392"/>
            <a:ext cx="4983480" cy="175564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37D68A"/>
                </a:solidFill>
                <a:latin typeface="Segoe UI" panose="020B0502040204020203"/>
              </a:rPr>
              <a:t>FOR THE PUBLIC</a:t>
            </a:r>
            <a:endParaRPr sz="1100" b="1" i="0">
              <a:solidFill>
                <a:srgbClr val="37D68A"/>
              </a:solidFill>
              <a:latin typeface="Segoe UI" panose="020B0502040204020203"/>
            </a:endParaRP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50" b="1" i="0">
                <a:solidFill>
                  <a:srgbClr val="F7FBF8"/>
                </a:solidFill>
                <a:latin typeface="Segoe UI Black" panose="020B0A02040204020203"/>
              </a:rPr>
              <a:t>Transparency by default</a:t>
            </a:r>
            <a:endParaRPr sz="1550" b="1" i="0">
              <a:solidFill>
                <a:srgbClr val="F7FBF8"/>
              </a:solidFill>
              <a:latin typeface="Segoe UI Black" panose="020B0A02040204020203"/>
            </a:endParaRPr>
          </a:p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9DBFAF"/>
                </a:solidFill>
                <a:latin typeface="Segoe UI" panose="020B0502040204020203"/>
              </a:rPr>
              <a:t>Attendance becomes a live public ledger — RTI-grade openness without filing a single RTI.</a:t>
            </a:r>
            <a:endParaRPr sz="1100" b="0" i="0">
              <a:solidFill>
                <a:srgbClr val="9DBFAF"/>
              </a:solidFill>
              <a:latin typeface="Segoe UI" panose="020B0502040204020203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199632" y="1828800"/>
            <a:ext cx="5440680" cy="2084831"/>
          </a:xfrm>
          <a:prstGeom prst="roundRect">
            <a:avLst>
              <a:gd name="adj" fmla="val 8000"/>
            </a:avLst>
          </a:prstGeom>
          <a:solidFill>
            <a:srgbClr val="0B3326"/>
          </a:solidFill>
          <a:ln w="12700">
            <a:solidFill>
              <a:srgbClr val="1E6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8232" y="1993392"/>
            <a:ext cx="4983480" cy="175564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37D68A"/>
                </a:solidFill>
                <a:latin typeface="Segoe UI" panose="020B0502040204020203"/>
              </a:rPr>
              <a:t>FOR THE EXCHEQUER</a:t>
            </a:r>
            <a:endParaRPr sz="1100" b="1" i="0">
              <a:solidFill>
                <a:srgbClr val="37D68A"/>
              </a:solidFill>
              <a:latin typeface="Segoe UI" panose="020B0502040204020203"/>
            </a:endParaRP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50" b="1" i="0">
                <a:solidFill>
                  <a:srgbClr val="F7FBF8"/>
                </a:solidFill>
                <a:latin typeface="Segoe UI Black" panose="020B0A02040204020203"/>
              </a:rPr>
              <a:t>Recovery in days, not audit cycles</a:t>
            </a:r>
            <a:endParaRPr sz="1550" b="1" i="0">
              <a:solidFill>
                <a:srgbClr val="F7FBF8"/>
              </a:solidFill>
              <a:latin typeface="Segoe UI Black" panose="020B0A02040204020203"/>
            </a:endParaRPr>
          </a:p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9DBFAF"/>
                </a:solidFill>
                <a:latin typeface="Segoe UI" panose="020B0502040204020203"/>
              </a:rPr>
              <a:t>Ghost payroll surfaces the moment patterns form — not once a year, after the money is gone.</a:t>
            </a:r>
            <a:endParaRPr sz="1100" b="0" i="0">
              <a:solidFill>
                <a:srgbClr val="9DBFAF"/>
              </a:solidFill>
              <a:latin typeface="Segoe UI" panose="020B0502040204020203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48640" y="4041648"/>
            <a:ext cx="5440680" cy="2084831"/>
          </a:xfrm>
          <a:prstGeom prst="roundRect">
            <a:avLst>
              <a:gd name="adj" fmla="val 8000"/>
            </a:avLst>
          </a:prstGeom>
          <a:solidFill>
            <a:srgbClr val="0B3326"/>
          </a:solidFill>
          <a:ln w="12700">
            <a:solidFill>
              <a:srgbClr val="1E6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206240"/>
            <a:ext cx="4983480" cy="175564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37D68A"/>
                </a:solidFill>
                <a:latin typeface="Segoe UI" panose="020B0502040204020203"/>
              </a:rPr>
              <a:t>FOR PARENTS</a:t>
            </a:r>
            <a:endParaRPr sz="1100" b="1" i="0">
              <a:solidFill>
                <a:srgbClr val="37D68A"/>
              </a:solidFill>
              <a:latin typeface="Segoe UI" panose="020B0502040204020203"/>
            </a:endParaRP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50" b="1" i="0">
                <a:solidFill>
                  <a:srgbClr val="F7FBF8"/>
                </a:solidFill>
                <a:latin typeface="Segoe UI Black" panose="020B0A02040204020203"/>
              </a:rPr>
              <a:t>Standing, not petitions</a:t>
            </a:r>
            <a:endParaRPr sz="1550" b="1" i="0">
              <a:solidFill>
                <a:srgbClr val="F7FBF8"/>
              </a:solidFill>
              <a:latin typeface="Segoe UI Black" panose="020B0A02040204020203"/>
            </a:endParaRPr>
          </a:p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9DBFAF"/>
                </a:solidFill>
                <a:latin typeface="Segoe UI" panose="020B0502040204020203"/>
              </a:rPr>
              <a:t>Parents move inside the system — from outsiders begging for attention to auditors with legal standing.</a:t>
            </a:r>
            <a:endParaRPr sz="1100" b="0" i="0">
              <a:solidFill>
                <a:srgbClr val="9DBFAF"/>
              </a:solidFill>
              <a:latin typeface="Segoe UI" panose="020B0502040204020203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99632" y="4041648"/>
            <a:ext cx="5440680" cy="2084831"/>
          </a:xfrm>
          <a:prstGeom prst="roundRect">
            <a:avLst>
              <a:gd name="adj" fmla="val 8000"/>
            </a:avLst>
          </a:prstGeom>
          <a:solidFill>
            <a:srgbClr val="0B3326"/>
          </a:solidFill>
          <a:ln w="12700">
            <a:solidFill>
              <a:srgbClr val="1E6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4206240"/>
            <a:ext cx="4983480" cy="175564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37D68A"/>
                </a:solidFill>
                <a:latin typeface="Segoe UI" panose="020B0502040204020203"/>
              </a:rPr>
              <a:t>FOR THE CHILD</a:t>
            </a:r>
            <a:endParaRPr sz="1100" b="1" i="0">
              <a:solidFill>
                <a:srgbClr val="37D68A"/>
              </a:solidFill>
              <a:latin typeface="Segoe UI" panose="020B0502040204020203"/>
            </a:endParaRP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50" b="1" i="0">
                <a:solidFill>
                  <a:srgbClr val="F7FBF8"/>
                </a:solidFill>
                <a:latin typeface="Segoe UI Black" panose="020B0A02040204020203"/>
              </a:rPr>
              <a:t>The classroom, delivered</a:t>
            </a:r>
            <a:endParaRPr sz="1550" b="1" i="0">
              <a:solidFill>
                <a:srgbClr val="F7FBF8"/>
              </a:solidFill>
              <a:latin typeface="Segoe UI Black" panose="020B0A02040204020203"/>
            </a:endParaRPr>
          </a:p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9DBFAF"/>
                </a:solidFill>
                <a:latin typeface="Segoe UI" panose="020B0502040204020203"/>
              </a:rPr>
              <a:t>The whole point: a teacher in the room, a syllabus completed, a year not stolen.</a:t>
            </a:r>
            <a:endParaRPr sz="1100" b="0" i="0">
              <a:solidFill>
                <a:srgbClr val="9DBFAF"/>
              </a:solidFill>
              <a:latin typeface="Segoe UI" panose="020B0502040204020203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48640" y="6419088"/>
            <a:ext cx="11091672" cy="10972"/>
          </a:xfrm>
          <a:prstGeom prst="rect">
            <a:avLst/>
          </a:prstGeom>
          <a:solidFill>
            <a:srgbClr val="1E6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900" b="0" i="0">
                <a:solidFill>
                  <a:srgbClr val="9DBFAF"/>
                </a:solidFill>
                <a:latin typeface="Segoe UI" panose="020B0502040204020203"/>
              </a:rPr>
              <a:t>EduWatch  •  تعلیم شفافیت</a:t>
            </a:r>
            <a:endParaRPr sz="900" b="0" i="0">
              <a:solidFill>
                <a:srgbClr val="9DBFAF"/>
              </a:solidFill>
              <a:latin typeface="Segoe UI" panose="020B0502040204020203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058400" y="6473952"/>
            <a:ext cx="16002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900" b="1" i="0">
                <a:solidFill>
                  <a:srgbClr val="C9A227"/>
                </a:solidFill>
                <a:latin typeface="Segoe UI" panose="020B0502040204020203"/>
              </a:rPr>
              <a:t>10</a:t>
            </a:r>
            <a:endParaRPr sz="900" b="1" i="0">
              <a:solidFill>
                <a:srgbClr val="C9A227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5C542"/>
                </a:solidFill>
                <a:latin typeface="Segoe UI" panose="020B0502040204020203"/>
              </a:rPr>
              <a:t>ROADMAP</a:t>
            </a:r>
            <a:endParaRPr sz="1100" b="1" i="0">
              <a:solidFill>
                <a:srgbClr val="F5C542"/>
              </a:solidFill>
              <a:latin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F7FBF8"/>
                </a:solidFill>
                <a:latin typeface="Segoe UI Black" panose="020B0A02040204020203"/>
              </a:rPr>
              <a:t>From Prototype to Province.</a:t>
            </a:r>
            <a:endParaRPr sz="3100" b="1" i="0">
              <a:solidFill>
                <a:srgbClr val="F7FBF8"/>
              </a:solidFill>
              <a:latin typeface="Segoe UI Black" panose="020B0A02040204020203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1554480" cy="41148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0B3326"/>
          </a:solidFill>
          <a:ln w="12700">
            <a:solidFill>
              <a:srgbClr val="1E6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64008" cy="914400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2103120" cy="9144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350" b="1" i="0">
                <a:solidFill>
                  <a:srgbClr val="F5C542"/>
                </a:solidFill>
                <a:latin typeface="Segoe UI Black" panose="020B0A02040204020203"/>
              </a:rPr>
              <a:t>NOW</a:t>
            </a:r>
            <a:endParaRPr sz="1350" b="1" i="0">
              <a:solidFill>
                <a:srgbClr val="F5C542"/>
              </a:solidFill>
              <a:latin typeface="Segoe UI Black" panose="020B0A02040204020203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017520" y="1828800"/>
            <a:ext cx="8412480" cy="9144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F7FBF8"/>
                </a:solidFill>
                <a:latin typeface="Segoe UI" panose="020B0502040204020203"/>
              </a:rPr>
              <a:t>Everything in this pitch — running live</a:t>
            </a:r>
            <a:endParaRPr sz="1200" b="1" i="0">
              <a:solidFill>
                <a:srgbClr val="F7FBF8"/>
              </a:solidFill>
              <a:latin typeface="Segoe UI" panose="020B0502040204020203"/>
            </a:endParaRPr>
          </a:p>
          <a:p>
            <a:pPr algn="l"/>
            <a:r>
              <a:rPr sz="1050" b="0" i="0">
                <a:solidFill>
                  <a:srgbClr val="9DBFAF"/>
                </a:solidFill>
                <a:latin typeface="Segoe UI" panose="020B0502040204020203"/>
              </a:rPr>
              <a:t>LLM letters, legal RAG, anomaly model, pHash fraud vision, dashboard, map, DEO digests</a:t>
            </a:r>
            <a:endParaRPr sz="1050" b="0" i="0">
              <a:solidFill>
                <a:srgbClr val="9DBFAF"/>
              </a:solidFill>
              <a:latin typeface="Segoe UI" panose="020B0502040204020203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48640" y="288036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0B3326"/>
          </a:solidFill>
          <a:ln w="12700">
            <a:solidFill>
              <a:srgbClr val="1E6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880360"/>
            <a:ext cx="64008" cy="914400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880360"/>
            <a:ext cx="2103120" cy="9144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350" b="1" i="0">
                <a:solidFill>
                  <a:srgbClr val="F5C542"/>
                </a:solidFill>
                <a:latin typeface="Segoe UI Black" panose="020B0A02040204020203"/>
              </a:rPr>
              <a:t>NEXT</a:t>
            </a:r>
            <a:endParaRPr sz="1350" b="1" i="0">
              <a:solidFill>
                <a:srgbClr val="F5C542"/>
              </a:solidFill>
              <a:latin typeface="Segoe UI Black" panose="020B0A02040204020203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017520" y="2880360"/>
            <a:ext cx="8412480" cy="9144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F7FBF8"/>
                </a:solidFill>
                <a:latin typeface="Segoe UI" panose="020B0502040204020203"/>
              </a:rPr>
              <a:t>Face verification on check-in  +  Twilio SMS alerts</a:t>
            </a:r>
            <a:endParaRPr sz="1200" b="1" i="0">
              <a:solidFill>
                <a:srgbClr val="F7FBF8"/>
              </a:solidFill>
              <a:latin typeface="Segoe UI" panose="020B0502040204020203"/>
            </a:endParaRPr>
          </a:p>
          <a:p>
            <a:pPr algn="l"/>
            <a:r>
              <a:rPr sz="1050" b="0" i="0">
                <a:solidFill>
                  <a:srgbClr val="9DBFAF"/>
                </a:solidFill>
                <a:latin typeface="Segoe UI" panose="020B0502040204020203"/>
              </a:rPr>
              <a:t>Biometric-grade liveness and feature-phone reach for low-connectivity parents</a:t>
            </a:r>
            <a:endParaRPr sz="1050" b="0" i="0">
              <a:solidFill>
                <a:srgbClr val="9DBFAF"/>
              </a:solidFill>
              <a:latin typeface="Segoe UI" panose="020B0502040204020203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48640" y="393192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0B3326"/>
          </a:solidFill>
          <a:ln w="12700">
            <a:solidFill>
              <a:srgbClr val="1E6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931920"/>
            <a:ext cx="64008" cy="914400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931920"/>
            <a:ext cx="2103120" cy="9144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350" b="1" i="0">
                <a:solidFill>
                  <a:srgbClr val="F5C542"/>
                </a:solidFill>
                <a:latin typeface="Segoe UI Black" panose="020B0A02040204020203"/>
              </a:rPr>
              <a:t>SOON</a:t>
            </a:r>
            <a:endParaRPr sz="1350" b="1" i="0">
              <a:solidFill>
                <a:srgbClr val="F5C542"/>
              </a:solidFill>
              <a:latin typeface="Segoe UI Black" panose="020B0A02040204020203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017520" y="3931920"/>
            <a:ext cx="8412480" cy="9144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F7FBF8"/>
                </a:solidFill>
                <a:latin typeface="Segoe UI" panose="020B0502040204020203"/>
              </a:rPr>
              <a:t>Urdu voice complaints (ASR)</a:t>
            </a:r>
            <a:endParaRPr sz="1200" b="1" i="0">
              <a:solidFill>
                <a:srgbClr val="F7FBF8"/>
              </a:solidFill>
              <a:latin typeface="Segoe UI" panose="020B0502040204020203"/>
            </a:endParaRPr>
          </a:p>
          <a:p>
            <a:pPr algn="l"/>
            <a:r>
              <a:rPr sz="1050" b="0" i="0">
                <a:solidFill>
                  <a:srgbClr val="9DBFAF"/>
                </a:solidFill>
                <a:latin typeface="Segoe UI" panose="020B0502040204020203"/>
              </a:rPr>
              <a:t>Zero-literacy inclusion: a parent speaks, the system files</a:t>
            </a:r>
            <a:endParaRPr sz="1050" b="0" i="0">
              <a:solidFill>
                <a:srgbClr val="9DBFAF"/>
              </a:solidFill>
              <a:latin typeface="Segoe UI" panose="020B0502040204020203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48640" y="498348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0B3326"/>
          </a:solidFill>
          <a:ln w="12700">
            <a:solidFill>
              <a:srgbClr val="1E6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983480"/>
            <a:ext cx="64008" cy="914400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983480"/>
            <a:ext cx="2103120" cy="9144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350" b="1" i="0">
                <a:solidFill>
                  <a:srgbClr val="F5C542"/>
                </a:solidFill>
                <a:latin typeface="Segoe UI Black" panose="020B0A02040204020203"/>
              </a:rPr>
              <a:t>SCALE</a:t>
            </a:r>
            <a:endParaRPr sz="1350" b="1" i="0">
              <a:solidFill>
                <a:srgbClr val="F5C542"/>
              </a:solidFill>
              <a:latin typeface="Segoe UI Black" panose="020B0A02040204020203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017520" y="4983480"/>
            <a:ext cx="8412480" cy="9144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F7FBF8"/>
                </a:solidFill>
                <a:latin typeface="Segoe UI" panose="020B0502040204020203"/>
              </a:rPr>
              <a:t>Provincial rollout  •  Qwen on Alibaba Model Studio  •  federal ledger</a:t>
            </a:r>
            <a:endParaRPr sz="1200" b="1" i="0">
              <a:solidFill>
                <a:srgbClr val="F7FBF8"/>
              </a:solidFill>
              <a:latin typeface="Segoe UI" panose="020B0502040204020203"/>
            </a:endParaRPr>
          </a:p>
          <a:p>
            <a:pPr algn="l"/>
            <a:r>
              <a:rPr sz="1050" b="0" i="0">
                <a:solidFill>
                  <a:srgbClr val="9DBFAF"/>
                </a:solidFill>
                <a:latin typeface="Segoe UI" panose="020B0502040204020203"/>
              </a:rPr>
              <a:t>District dashboards for every DEO office in Pakistan</a:t>
            </a:r>
            <a:endParaRPr sz="1050" b="0" i="0">
              <a:solidFill>
                <a:srgbClr val="9DBFAF"/>
              </a:solidFill>
              <a:latin typeface="Segoe UI" panose="020B0502040204020203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48640" y="6419088"/>
            <a:ext cx="11091672" cy="10972"/>
          </a:xfrm>
          <a:prstGeom prst="rect">
            <a:avLst/>
          </a:prstGeom>
          <a:solidFill>
            <a:srgbClr val="1E6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900" b="0" i="0">
                <a:solidFill>
                  <a:srgbClr val="9DBFAF"/>
                </a:solidFill>
                <a:latin typeface="Segoe UI" panose="020B0502040204020203"/>
              </a:rPr>
              <a:t>EduWatch  •  تعلیم شفافیت</a:t>
            </a:r>
            <a:endParaRPr sz="900" b="0" i="0">
              <a:solidFill>
                <a:srgbClr val="9DBFAF"/>
              </a:solidFill>
              <a:latin typeface="Segoe UI" panose="020B0502040204020203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058400" y="6473952"/>
            <a:ext cx="16002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900" b="1" i="0">
                <a:solidFill>
                  <a:srgbClr val="C9A227"/>
                </a:solidFill>
                <a:latin typeface="Segoe UI" panose="020B0502040204020203"/>
              </a:rPr>
              <a:t>11</a:t>
            </a:r>
            <a:endParaRPr sz="900" b="1" i="0">
              <a:solidFill>
                <a:srgbClr val="C9A227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377440" y="2560320"/>
            <a:ext cx="6583680" cy="6583680"/>
          </a:xfrm>
          <a:prstGeom prst="ellipse">
            <a:avLst/>
          </a:prstGeom>
          <a:solidFill>
            <a:srgbClr val="072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3108960"/>
            <a:ext cx="5486400" cy="5486400"/>
          </a:xfrm>
          <a:prstGeom prst="ellipse">
            <a:avLst/>
          </a:prstGeom>
          <a:noFill/>
          <a:ln w="19050">
            <a:solidFill>
              <a:srgbClr val="1E6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188720" y="3749039"/>
            <a:ext cx="4206240" cy="4206240"/>
          </a:xfrm>
          <a:prstGeom prst="ellipse">
            <a:avLst/>
          </a:prstGeom>
          <a:noFill/>
          <a:ln w="127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371600"/>
            <a:ext cx="9994392" cy="17373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 i="0">
                <a:solidFill>
                  <a:srgbClr val="F7FBF8"/>
                </a:solidFill>
                <a:latin typeface="Segoe UI Black" panose="020B0A02040204020203"/>
              </a:rPr>
              <a:t>Transparency isn't a feature.</a:t>
            </a:r>
            <a:endParaRPr sz="4000" b="1" i="0">
              <a:solidFill>
                <a:srgbClr val="F7FBF8"/>
              </a:solidFill>
              <a:latin typeface="Segoe UI Black" panose="020B0A02040204020203"/>
            </a:endParaRPr>
          </a:p>
          <a:p>
            <a:pPr algn="ctr"/>
            <a:r>
              <a:rPr sz="4000" b="1" i="0">
                <a:solidFill>
                  <a:srgbClr val="F5C542"/>
                </a:solidFill>
                <a:latin typeface="Segoe UI Black" panose="020B0A02040204020203"/>
              </a:rPr>
              <a:t>It's the product.</a:t>
            </a:r>
            <a:endParaRPr sz="4000" b="1" i="0">
              <a:solidFill>
                <a:srgbClr val="F5C542"/>
              </a:solidFill>
              <a:latin typeface="Segoe UI Black" panose="020B0A02040204020203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367528" y="3337560"/>
            <a:ext cx="1463040" cy="3657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611880"/>
            <a:ext cx="9994392" cy="8229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 i="0">
                <a:solidFill>
                  <a:srgbClr val="F7FBF8"/>
                </a:solidFill>
                <a:latin typeface="Segoe UI" panose="020B0502040204020203"/>
              </a:rPr>
              <a:t>EduWatch  •  تعلیم شفافیت</a:t>
            </a:r>
            <a:endParaRPr sz="2200" b="1" i="0">
              <a:solidFill>
                <a:srgbClr val="F7FBF8"/>
              </a:solidFill>
              <a:latin typeface="Segoe UI" panose="020B0502040204020203"/>
            </a:endParaRPr>
          </a:p>
          <a:p>
            <a:pPr algn="ctr"/>
            <a:r>
              <a:rPr sz="1600" b="1" i="1">
                <a:solidFill>
                  <a:srgbClr val="37D68A"/>
                </a:solidFill>
                <a:latin typeface="Segoe UI" panose="020B0502040204020203"/>
              </a:rPr>
              <a:t>Ghost teachers end here.</a:t>
            </a:r>
            <a:endParaRPr sz="1600" b="1" i="1">
              <a:solidFill>
                <a:srgbClr val="37D68A"/>
              </a:solidFill>
              <a:latin typeface="Segoe UI" panose="020B0502040204020203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813048" y="4846320"/>
            <a:ext cx="4572000" cy="475488"/>
          </a:xfrm>
          <a:prstGeom prst="roundRect">
            <a:avLst>
              <a:gd name="adj" fmla="val 50000"/>
            </a:avLst>
          </a:prstGeom>
          <a:solidFill>
            <a:srgbClr val="072B1F"/>
          </a:solidFill>
          <a:ln w="12700">
            <a:solidFill>
              <a:srgbClr val="1E6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760720"/>
            <a:ext cx="9994392" cy="22542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1300" b="1" i="0">
                <a:solidFill>
                  <a:srgbClr val="9DBFAF"/>
                </a:solidFill>
                <a:latin typeface="Segoe UI" panose="020B0502040204020203"/>
              </a:rPr>
              <a:t>Marzia Syeda</a:t>
            </a:r>
            <a:r>
              <a:rPr lang="en-US" sz="1300" b="1" i="0">
                <a:solidFill>
                  <a:srgbClr val="9DBFAF"/>
                </a:solidFill>
                <a:latin typeface="Segoe UI" panose="020B0502040204020203"/>
              </a:rPr>
              <a:t>, Rabia Arain, Isha Aslam</a:t>
            </a:r>
            <a:r>
              <a:rPr sz="1300" b="1" i="0">
                <a:solidFill>
                  <a:srgbClr val="9DBFAF"/>
                </a:solidFill>
                <a:latin typeface="Segoe UI" panose="020B0502040204020203"/>
              </a:rPr>
              <a:t>r</a:t>
            </a:r>
            <a:endParaRPr sz="1300" b="1" i="0">
              <a:solidFill>
                <a:srgbClr val="9DBFAF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6419</Words>
  <Application>WPS Presentation</Application>
  <PresentationFormat>On-screen Show (4:3)</PresentationFormat>
  <Paragraphs>293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2" baseType="lpstr">
      <vt:lpstr>Arial</vt:lpstr>
      <vt:lpstr>SimSun</vt:lpstr>
      <vt:lpstr>Wingdings</vt:lpstr>
      <vt:lpstr>Arial</vt:lpstr>
      <vt:lpstr>Segoe UI</vt:lpstr>
      <vt:lpstr>Segoe UI Black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Marzia Syeda</cp:lastModifiedBy>
  <cp:revision>2</cp:revision>
  <dcterms:created xsi:type="dcterms:W3CDTF">2013-01-27T09:14:00Z</dcterms:created>
  <dcterms:modified xsi:type="dcterms:W3CDTF">2026-09-13T13:38:01Z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5655F64B8CE84A2D920BB81A5FF7C525_12</vt:lpwstr>
  </property>
  <property fmtid="{D5CDD505-2E9C-101B-9397-08002B2CF9AE}" pid="3" name="KSOProductBuildVer">
    <vt:lpwstr>1033-12.1.0.28485</vt:lpwstr>
  </property>
</Properties>
</file>